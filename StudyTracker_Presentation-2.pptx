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4206240" cy="4206240"/>
          </a:xfrm>
          <a:prstGeom prst="ellipse">
            <a:avLst/>
          </a:prstGeom>
          <a:solidFill>
            <a:srgbClr val="7C6FF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65760"/>
            <a:ext cx="2377440" cy="2377440"/>
          </a:xfrm>
          <a:prstGeom prst="ellipse">
            <a:avLst/>
          </a:prstGeom>
          <a:solidFill>
            <a:srgbClr val="2AD8B9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4206240"/>
            <a:ext cx="1280160" cy="1280160"/>
          </a:xfrm>
          <a:prstGeom prst="ellipse">
            <a:avLst/>
          </a:prstGeom>
          <a:solidFill>
            <a:srgbClr val="2AD8B9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PROJECT  ·  ACADEMIC YEAR 2025–26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Tracker
</a:t>
            </a:r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2AD8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lectures. Measure progress. Study smarter.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6949440" cy="960120"/>
          </a:xfrm>
          <a:prstGeom prst="roundRect">
            <a:avLst>
              <a:gd name="adj" fmla="val 7619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56616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P. Poddar Institute of Management &amp; Technology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 (PCC-CS494)  ·  CSE  ·  2nd Year, 4th Semester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98348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" y="5138928"/>
            <a:ext cx="566928" cy="566928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" y="5138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7332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Rajdeep Dey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59710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11500124125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10712" y="498348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84448" y="5138928"/>
            <a:ext cx="566928" cy="566928"/>
          </a:xfrm>
          <a:prstGeom prst="ellipse">
            <a:avLst/>
          </a:prstGeom>
          <a:solidFill>
            <a:srgbClr val="2AD8B9"/>
          </a:solidFill>
          <a:ln/>
        </p:spPr>
      </p:sp>
      <p:sp>
        <p:nvSpPr>
          <p:cNvPr id="18" name="Text 16"/>
          <p:cNvSpPr/>
          <p:nvPr/>
        </p:nvSpPr>
        <p:spPr>
          <a:xfrm>
            <a:off x="3584448" y="5138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93592" y="57332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Das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593592" y="59710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11500124127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81344" y="498348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5138928"/>
            <a:ext cx="566928" cy="566928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5138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64224" y="57332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Priyam Mondal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64224" y="59710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11500124133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951976" y="498348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25712" y="5138928"/>
            <a:ext cx="566928" cy="566928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28" name="Text 26"/>
          <p:cNvSpPr/>
          <p:nvPr/>
        </p:nvSpPr>
        <p:spPr>
          <a:xfrm>
            <a:off x="9125712" y="5138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34856" y="57332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Priyanshi Agarwal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134856" y="59710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11500124134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Problem to Solution —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49040" y="2020824"/>
            <a:ext cx="1295248" cy="1837944"/>
          </a:xfrm>
          <a:prstGeom prst="line">
            <a:avLst/>
          </a:prstGeom>
          <a:noFill/>
          <a:ln w="19050">
            <a:solidFill>
              <a:srgbClr val="2A33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7147408" y="2020824"/>
            <a:ext cx="1295248" cy="1837944"/>
          </a:xfrm>
          <a:prstGeom prst="line">
            <a:avLst/>
          </a:prstGeom>
          <a:noFill/>
          <a:ln w="19050">
            <a:solidFill>
              <a:srgbClr val="2A33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3246120"/>
            <a:ext cx="1295248" cy="612648"/>
          </a:xfrm>
          <a:prstGeom prst="line">
            <a:avLst/>
          </a:prstGeom>
          <a:noFill/>
          <a:ln w="19050">
            <a:solidFill>
              <a:srgbClr val="2A33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7147408" y="3246120"/>
            <a:ext cx="1295248" cy="612648"/>
          </a:xfrm>
          <a:prstGeom prst="line">
            <a:avLst/>
          </a:prstGeom>
          <a:noFill/>
          <a:ln w="19050">
            <a:solidFill>
              <a:srgbClr val="2A33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3749040" y="3858768"/>
            <a:ext cx="1295248" cy="612648"/>
          </a:xfrm>
          <a:prstGeom prst="line">
            <a:avLst/>
          </a:prstGeom>
          <a:noFill/>
          <a:ln w="19050">
            <a:solidFill>
              <a:srgbClr val="2A33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47408" y="3858768"/>
            <a:ext cx="1295248" cy="612648"/>
          </a:xfrm>
          <a:prstGeom prst="line">
            <a:avLst/>
          </a:prstGeom>
          <a:noFill/>
          <a:ln w="19050">
            <a:solidFill>
              <a:srgbClr val="2A33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3749040" y="3858768"/>
            <a:ext cx="1295248" cy="1837944"/>
          </a:xfrm>
          <a:prstGeom prst="line">
            <a:avLst/>
          </a:prstGeom>
          <a:noFill/>
          <a:ln w="19050">
            <a:solidFill>
              <a:srgbClr val="2A33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47408" y="3858768"/>
            <a:ext cx="1295248" cy="1837944"/>
          </a:xfrm>
          <a:prstGeom prst="line">
            <a:avLst/>
          </a:prstGeom>
          <a:noFill/>
          <a:ln w="19050">
            <a:solidFill>
              <a:srgbClr val="2A33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600200"/>
            <a:ext cx="3246120" cy="841248"/>
          </a:xfrm>
          <a:prstGeom prst="roundRect">
            <a:avLst>
              <a:gd name="adj" fmla="val 7609"/>
            </a:avLst>
          </a:prstGeom>
          <a:solidFill>
            <a:srgbClr val="141B33"/>
          </a:solidFill>
          <a:ln w="15240">
            <a:solidFill>
              <a:srgbClr val="4A24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1810512"/>
            <a:ext cx="420624" cy="420624"/>
          </a:xfrm>
          <a:prstGeom prst="ellipse">
            <a:avLst/>
          </a:prstGeom>
          <a:solidFill>
            <a:srgbClr val="3A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160020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scattered across playlists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825496"/>
            <a:ext cx="3246120" cy="841248"/>
          </a:xfrm>
          <a:prstGeom prst="roundRect">
            <a:avLst>
              <a:gd name="adj" fmla="val 7609"/>
            </a:avLst>
          </a:prstGeom>
          <a:solidFill>
            <a:srgbClr val="141B33"/>
          </a:solidFill>
          <a:ln w="15240">
            <a:solidFill>
              <a:srgbClr val="4A24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035808"/>
            <a:ext cx="420624" cy="420624"/>
          </a:xfrm>
          <a:prstGeom prst="ellipse">
            <a:avLst/>
          </a:prstGeom>
          <a:solidFill>
            <a:srgbClr val="3A2233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2825496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real progress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050792"/>
            <a:ext cx="3246120" cy="841248"/>
          </a:xfrm>
          <a:prstGeom prst="roundRect">
            <a:avLst>
              <a:gd name="adj" fmla="val 7609"/>
            </a:avLst>
          </a:prstGeom>
          <a:solidFill>
            <a:srgbClr val="141B33"/>
          </a:solidFill>
          <a:ln w="15240">
            <a:solidFill>
              <a:srgbClr val="4A24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261104"/>
            <a:ext cx="420624" cy="420624"/>
          </a:xfrm>
          <a:prstGeom prst="ellipse">
            <a:avLst/>
          </a:prstGeom>
          <a:solidFill>
            <a:srgbClr val="3A2233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261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4050792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tracking, duplicate counts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5276088"/>
            <a:ext cx="3246120" cy="841248"/>
          </a:xfrm>
          <a:prstGeom prst="roundRect">
            <a:avLst>
              <a:gd name="adj" fmla="val 7609"/>
            </a:avLst>
          </a:prstGeom>
          <a:solidFill>
            <a:srgbClr val="141B33"/>
          </a:solidFill>
          <a:ln w="15240">
            <a:solidFill>
              <a:srgbClr val="4A24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5486400"/>
            <a:ext cx="420624" cy="420624"/>
          </a:xfrm>
          <a:prstGeom prst="ellipse">
            <a:avLst/>
          </a:prstGeom>
          <a:solidFill>
            <a:srgbClr val="3A2233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486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80160" y="5276088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idea when you'll actually finish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442655" y="1600200"/>
            <a:ext cx="3246120" cy="841248"/>
          </a:xfrm>
          <a:prstGeom prst="roundRect">
            <a:avLst>
              <a:gd name="adj" fmla="val 7609"/>
            </a:avLst>
          </a:prstGeom>
          <a:solidFill>
            <a:srgbClr val="141B33"/>
          </a:solidFill>
          <a:ln w="15240">
            <a:solidFill>
              <a:srgbClr val="1238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9543" y="1810512"/>
            <a:ext cx="420624" cy="420624"/>
          </a:xfrm>
          <a:prstGeom prst="ellipse">
            <a:avLst/>
          </a:prstGeom>
          <a:solidFill>
            <a:srgbClr val="123832"/>
          </a:solidFill>
          <a:ln/>
        </p:spPr>
      </p:sp>
      <p:sp>
        <p:nvSpPr>
          <p:cNvPr id="30" name="Text 28"/>
          <p:cNvSpPr/>
          <p:nvPr/>
        </p:nvSpPr>
        <p:spPr>
          <a:xfrm>
            <a:off x="8689543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19895" y="160020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subject dashboard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442655" y="2825496"/>
            <a:ext cx="3246120" cy="841248"/>
          </a:xfrm>
          <a:prstGeom prst="roundRect">
            <a:avLst>
              <a:gd name="adj" fmla="val 7609"/>
            </a:avLst>
          </a:prstGeom>
          <a:solidFill>
            <a:srgbClr val="141B33"/>
          </a:solidFill>
          <a:ln w="15240">
            <a:solidFill>
              <a:srgbClr val="12383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89543" y="3035808"/>
            <a:ext cx="420624" cy="420624"/>
          </a:xfrm>
          <a:prstGeom prst="ellipse">
            <a:avLst/>
          </a:prstGeom>
          <a:solidFill>
            <a:srgbClr val="123832"/>
          </a:solidFill>
          <a:ln/>
        </p:spPr>
      </p:sp>
      <p:sp>
        <p:nvSpPr>
          <p:cNvPr id="34" name="Text 32"/>
          <p:cNvSpPr/>
          <p:nvPr/>
        </p:nvSpPr>
        <p:spPr>
          <a:xfrm>
            <a:off x="8689543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19895" y="2825496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Auto-tracked lecture completion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442655" y="4050792"/>
            <a:ext cx="3246120" cy="841248"/>
          </a:xfrm>
          <a:prstGeom prst="roundRect">
            <a:avLst>
              <a:gd name="adj" fmla="val 7609"/>
            </a:avLst>
          </a:prstGeom>
          <a:solidFill>
            <a:srgbClr val="141B33"/>
          </a:solidFill>
          <a:ln w="15240">
            <a:solidFill>
              <a:srgbClr val="12383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9543" y="4261104"/>
            <a:ext cx="420624" cy="420624"/>
          </a:xfrm>
          <a:prstGeom prst="ellipse">
            <a:avLst/>
          </a:prstGeom>
          <a:solidFill>
            <a:srgbClr val="123832"/>
          </a:solidFill>
          <a:ln/>
        </p:spPr>
      </p:sp>
      <p:sp>
        <p:nvSpPr>
          <p:cNvPr id="38" name="Text 36"/>
          <p:cNvSpPr/>
          <p:nvPr/>
        </p:nvSpPr>
        <p:spPr>
          <a:xfrm>
            <a:off x="8689543" y="4261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219895" y="4050792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Duplicate-safe, reliable data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442655" y="5276088"/>
            <a:ext cx="3246120" cy="841248"/>
          </a:xfrm>
          <a:prstGeom prst="roundRect">
            <a:avLst>
              <a:gd name="adj" fmla="val 7609"/>
            </a:avLst>
          </a:prstGeom>
          <a:solidFill>
            <a:srgbClr val="141B33"/>
          </a:solidFill>
          <a:ln w="15240">
            <a:solidFill>
              <a:srgbClr val="12383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89543" y="5486400"/>
            <a:ext cx="420624" cy="420624"/>
          </a:xfrm>
          <a:prstGeom prst="ellipse">
            <a:avLst/>
          </a:prstGeom>
          <a:solidFill>
            <a:srgbClr val="123832"/>
          </a:solidFill>
          <a:ln/>
        </p:spPr>
      </p:sp>
      <p:sp>
        <p:nvSpPr>
          <p:cNvPr id="42" name="Text 40"/>
          <p:cNvSpPr/>
          <p:nvPr/>
        </p:nvSpPr>
        <p:spPr>
          <a:xfrm>
            <a:off x="8689543" y="5486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219895" y="5276088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completion ETA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02920" y="12161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0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442655" y="12161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44288" y="2807208"/>
            <a:ext cx="2103120" cy="2103120"/>
          </a:xfrm>
          <a:prstGeom prst="ellipse">
            <a:avLst/>
          </a:prstGeom>
          <a:solidFill>
            <a:srgbClr val="7C6FF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44288" y="340156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
</a:t>
            </a:r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Tracker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5044288" y="4114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2B2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Implemented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features are intentionally excluded here — see Future Enhancements.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094476" y="2011680"/>
            <a:ext cx="4572" cy="2148840"/>
          </a:xfrm>
          <a:prstGeom prst="line">
            <a:avLst/>
          </a:prstGeom>
          <a:noFill/>
          <a:ln w="15875">
            <a:solidFill>
              <a:srgbClr val="2A33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6094476" y="2514413"/>
            <a:ext cx="2791884" cy="1646107"/>
          </a:xfrm>
          <a:prstGeom prst="line">
            <a:avLst/>
          </a:prstGeom>
          <a:noFill/>
          <a:ln w="15875">
            <a:solidFill>
              <a:srgbClr val="2A33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6094476" y="3787378"/>
            <a:ext cx="4277414" cy="373142"/>
          </a:xfrm>
          <a:prstGeom prst="line">
            <a:avLst/>
          </a:prstGeom>
          <a:noFill/>
          <a:ln w="15875">
            <a:solidFill>
              <a:srgbClr val="2A33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4476" y="4160520"/>
            <a:ext cx="3761495" cy="1074420"/>
          </a:xfrm>
          <a:prstGeom prst="line">
            <a:avLst/>
          </a:prstGeom>
          <a:noFill/>
          <a:ln w="15875">
            <a:solidFill>
              <a:srgbClr val="2A33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4476" y="4160520"/>
            <a:ext cx="1485530" cy="2019249"/>
          </a:xfrm>
          <a:prstGeom prst="line">
            <a:avLst/>
          </a:prstGeom>
          <a:noFill/>
          <a:ln w="15875">
            <a:solidFill>
              <a:srgbClr val="2A33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4608946" y="4160520"/>
            <a:ext cx="1485530" cy="2019249"/>
          </a:xfrm>
          <a:prstGeom prst="line">
            <a:avLst/>
          </a:prstGeom>
          <a:noFill/>
          <a:ln w="15875">
            <a:solidFill>
              <a:srgbClr val="2A33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2332981" y="4160520"/>
            <a:ext cx="3761495" cy="1074420"/>
          </a:xfrm>
          <a:prstGeom prst="line">
            <a:avLst/>
          </a:prstGeom>
          <a:noFill/>
          <a:ln w="15875">
            <a:solidFill>
              <a:srgbClr val="2A33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17062" y="3787378"/>
            <a:ext cx="4277414" cy="373142"/>
          </a:xfrm>
          <a:prstGeom prst="line">
            <a:avLst/>
          </a:prstGeom>
          <a:noFill/>
          <a:ln w="15875">
            <a:solidFill>
              <a:srgbClr val="2A33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02592" y="2514413"/>
            <a:ext cx="2791884" cy="1646107"/>
          </a:xfrm>
          <a:prstGeom prst="line">
            <a:avLst/>
          </a:prstGeom>
          <a:noFill/>
          <a:ln w="15875">
            <a:solidFill>
              <a:srgbClr val="2A33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80076" y="1623060"/>
            <a:ext cx="1828800" cy="777240"/>
          </a:xfrm>
          <a:prstGeom prst="roundRect">
            <a:avLst>
              <a:gd name="adj" fmla="val 8235"/>
            </a:avLst>
          </a:prstGeom>
          <a:solidFill>
            <a:srgbClr val="141B33"/>
          </a:solidFill>
          <a:ln w="16510">
            <a:solidFill>
              <a:srgbClr val="7C6F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8092" y="1828800"/>
            <a:ext cx="365760" cy="365760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16" name="Text 14"/>
          <p:cNvSpPr/>
          <p:nvPr/>
        </p:nvSpPr>
        <p:spPr>
          <a:xfrm>
            <a:off x="5308092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10428" y="16962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User Auth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10428" y="202539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profiles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971960" y="2125793"/>
            <a:ext cx="1828800" cy="777240"/>
          </a:xfrm>
          <a:prstGeom prst="roundRect">
            <a:avLst>
              <a:gd name="adj" fmla="val 8235"/>
            </a:avLst>
          </a:prstGeom>
          <a:solidFill>
            <a:srgbClr val="141B33"/>
          </a:solidFill>
          <a:ln w="16510">
            <a:solidFill>
              <a:srgbClr val="2AD8B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9976" y="2331533"/>
            <a:ext cx="365760" cy="365760"/>
          </a:xfrm>
          <a:prstGeom prst="ellipse">
            <a:avLst/>
          </a:prstGeom>
          <a:solidFill>
            <a:srgbClr val="2AD8B9"/>
          </a:solidFill>
          <a:ln/>
        </p:spPr>
      </p:sp>
      <p:sp>
        <p:nvSpPr>
          <p:cNvPr id="21" name="Text 19"/>
          <p:cNvSpPr/>
          <p:nvPr/>
        </p:nvSpPr>
        <p:spPr>
          <a:xfrm>
            <a:off x="8099976" y="233153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2312" y="2198945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Management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02312" y="2528129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organise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457490" y="3398758"/>
            <a:ext cx="1828800" cy="777240"/>
          </a:xfrm>
          <a:prstGeom prst="roundRect">
            <a:avLst>
              <a:gd name="adj" fmla="val 8235"/>
            </a:avLst>
          </a:prstGeom>
          <a:solidFill>
            <a:srgbClr val="141B33"/>
          </a:solidFill>
          <a:ln w="16510">
            <a:solidFill>
              <a:srgbClr val="F2B84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85506" y="3604498"/>
            <a:ext cx="365760" cy="36576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6" name="Text 24"/>
          <p:cNvSpPr/>
          <p:nvPr/>
        </p:nvSpPr>
        <p:spPr>
          <a:xfrm>
            <a:off x="9585506" y="360449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987842" y="347191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Import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987842" y="380109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Playlists, shorts, links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941571" y="4846320"/>
            <a:ext cx="1828800" cy="777240"/>
          </a:xfrm>
          <a:prstGeom prst="roundRect">
            <a:avLst>
              <a:gd name="adj" fmla="val 8235"/>
            </a:avLst>
          </a:prstGeom>
          <a:solidFill>
            <a:srgbClr val="141B33"/>
          </a:solidFill>
          <a:ln w="16510">
            <a:solidFill>
              <a:srgbClr val="7C6F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69587" y="5052060"/>
            <a:ext cx="365760" cy="365760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31" name="Text 29"/>
          <p:cNvSpPr/>
          <p:nvPr/>
        </p:nvSpPr>
        <p:spPr>
          <a:xfrm>
            <a:off x="9069587" y="50520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471923" y="49194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Tracking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471923" y="524865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 &amp; progress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665606" y="5791149"/>
            <a:ext cx="1828800" cy="777240"/>
          </a:xfrm>
          <a:prstGeom prst="roundRect">
            <a:avLst>
              <a:gd name="adj" fmla="val 8235"/>
            </a:avLst>
          </a:prstGeom>
          <a:solidFill>
            <a:srgbClr val="141B33"/>
          </a:solidFill>
          <a:ln w="16510">
            <a:solidFill>
              <a:srgbClr val="2AD8B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93622" y="5996889"/>
            <a:ext cx="365760" cy="365760"/>
          </a:xfrm>
          <a:prstGeom prst="ellipse">
            <a:avLst/>
          </a:prstGeom>
          <a:solidFill>
            <a:srgbClr val="2AD8B9"/>
          </a:solidFill>
          <a:ln/>
        </p:spPr>
      </p:sp>
      <p:sp>
        <p:nvSpPr>
          <p:cNvPr id="36" name="Text 34"/>
          <p:cNvSpPr/>
          <p:nvPr/>
        </p:nvSpPr>
        <p:spPr>
          <a:xfrm>
            <a:off x="6793622" y="599688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95958" y="5864301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Planner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95958" y="6193485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daily schedule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94546" y="5791149"/>
            <a:ext cx="1828800" cy="777240"/>
          </a:xfrm>
          <a:prstGeom prst="roundRect">
            <a:avLst>
              <a:gd name="adj" fmla="val 8235"/>
            </a:avLst>
          </a:prstGeom>
          <a:solidFill>
            <a:srgbClr val="141B33"/>
          </a:solidFill>
          <a:ln w="16510">
            <a:solidFill>
              <a:srgbClr val="F2B84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22562" y="5996889"/>
            <a:ext cx="365760" cy="36576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41" name="Text 39"/>
          <p:cNvSpPr/>
          <p:nvPr/>
        </p:nvSpPr>
        <p:spPr>
          <a:xfrm>
            <a:off x="3822562" y="599688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224898" y="5864301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224898" y="6193485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UI updates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418581" y="4846320"/>
            <a:ext cx="1828800" cy="777240"/>
          </a:xfrm>
          <a:prstGeom prst="roundRect">
            <a:avLst>
              <a:gd name="adj" fmla="val 8235"/>
            </a:avLst>
          </a:prstGeom>
          <a:solidFill>
            <a:srgbClr val="141B33"/>
          </a:solidFill>
          <a:ln w="16510">
            <a:solidFill>
              <a:srgbClr val="7C6F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46597" y="5052060"/>
            <a:ext cx="365760" cy="365760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46" name="Text 44"/>
          <p:cNvSpPr/>
          <p:nvPr/>
        </p:nvSpPr>
        <p:spPr>
          <a:xfrm>
            <a:off x="1546597" y="50520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948933" y="49194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Goals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948933" y="524865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to-do list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02662" y="3398758"/>
            <a:ext cx="1828800" cy="777240"/>
          </a:xfrm>
          <a:prstGeom prst="roundRect">
            <a:avLst>
              <a:gd name="adj" fmla="val 8235"/>
            </a:avLst>
          </a:prstGeom>
          <a:solidFill>
            <a:srgbClr val="141B33"/>
          </a:solidFill>
          <a:ln w="16510">
            <a:solidFill>
              <a:srgbClr val="2AD8B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30678" y="3604498"/>
            <a:ext cx="365760" cy="365760"/>
          </a:xfrm>
          <a:prstGeom prst="ellipse">
            <a:avLst/>
          </a:prstGeom>
          <a:solidFill>
            <a:srgbClr val="2AD8B9"/>
          </a:solidFill>
          <a:ln/>
        </p:spPr>
      </p:sp>
      <p:sp>
        <p:nvSpPr>
          <p:cNvPr id="51" name="Text 49"/>
          <p:cNvSpPr/>
          <p:nvPr/>
        </p:nvSpPr>
        <p:spPr>
          <a:xfrm>
            <a:off x="1030678" y="360449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433014" y="347191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ETA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433014" y="380109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+ prediction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388192" y="2125793"/>
            <a:ext cx="1828800" cy="777240"/>
          </a:xfrm>
          <a:prstGeom prst="roundRect">
            <a:avLst>
              <a:gd name="adj" fmla="val 8235"/>
            </a:avLst>
          </a:prstGeom>
          <a:solidFill>
            <a:srgbClr val="141B33"/>
          </a:solidFill>
          <a:ln w="16510">
            <a:solidFill>
              <a:srgbClr val="F2B84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16208" y="2331533"/>
            <a:ext cx="365760" cy="36576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56" name="Text 54"/>
          <p:cNvSpPr/>
          <p:nvPr/>
        </p:nvSpPr>
        <p:spPr>
          <a:xfrm>
            <a:off x="2516208" y="233153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2918544" y="2198945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+ Bookmarks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918544" y="2528129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+ timestamps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161788" y="3227832"/>
            <a:ext cx="1865376" cy="1865376"/>
          </a:xfrm>
          <a:prstGeom prst="ellipse">
            <a:avLst/>
          </a:prstGeom>
          <a:solidFill>
            <a:srgbClr val="7C6FF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61788" y="3776472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
</a:t>
            </a:r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Tracker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5161788" y="436168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B2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Core Features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Architecture &amp; Data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LAYERS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749040" cy="777240"/>
          </a:xfrm>
          <a:prstGeom prst="roundRect">
            <a:avLst>
              <a:gd name="adj" fmla="val 8235"/>
            </a:avLst>
          </a:prstGeom>
          <a:solidFill>
            <a:srgbClr val="141B33"/>
          </a:solidFill>
          <a:ln w="16510">
            <a:solidFill>
              <a:srgbClr val="7C6F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14500"/>
            <a:ext cx="457200" cy="457200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145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6824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C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17320" y="19568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423160" y="2331720"/>
            <a:ext cx="4572" cy="320040"/>
          </a:xfrm>
          <a:prstGeom prst="line">
            <a:avLst/>
          </a:prstGeom>
          <a:noFill/>
          <a:ln w="22225">
            <a:solidFill>
              <a:srgbClr val="6B769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2651760"/>
            <a:ext cx="3749040" cy="777240"/>
          </a:xfrm>
          <a:prstGeom prst="roundRect">
            <a:avLst>
              <a:gd name="adj" fmla="val 8235"/>
            </a:avLst>
          </a:prstGeom>
          <a:solidFill>
            <a:srgbClr val="141B33"/>
          </a:solidFill>
          <a:ln w="16510">
            <a:solidFill>
              <a:srgbClr val="2AD8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811780"/>
            <a:ext cx="457200" cy="457200"/>
          </a:xfrm>
          <a:prstGeom prst="ellipse">
            <a:avLst/>
          </a:prstGeom>
          <a:solidFill>
            <a:srgbClr val="2AD8B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811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27797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417320" y="30540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423160" y="3429000"/>
            <a:ext cx="4572" cy="320040"/>
          </a:xfrm>
          <a:prstGeom prst="line">
            <a:avLst/>
          </a:prstGeom>
          <a:noFill/>
          <a:ln w="22225">
            <a:solidFill>
              <a:srgbClr val="6B769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" y="3749040"/>
            <a:ext cx="3749040" cy="777240"/>
          </a:xfrm>
          <a:prstGeom prst="roundRect">
            <a:avLst>
              <a:gd name="adj" fmla="val 8235"/>
            </a:avLst>
          </a:prstGeom>
          <a:solidFill>
            <a:srgbClr val="141B33"/>
          </a:solidFill>
          <a:ln w="16510">
            <a:solidFill>
              <a:srgbClr val="F2B8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909060"/>
            <a:ext cx="457200" cy="45720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909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☷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38770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417320" y="41513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+ SQLAlchemy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423160" y="4526280"/>
            <a:ext cx="4572" cy="320040"/>
          </a:xfrm>
          <a:prstGeom prst="line">
            <a:avLst/>
          </a:prstGeom>
          <a:noFill/>
          <a:ln w="22225">
            <a:solidFill>
              <a:srgbClr val="6B769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8640" y="4846320"/>
            <a:ext cx="3749040" cy="777240"/>
          </a:xfrm>
          <a:prstGeom prst="roundRect">
            <a:avLst>
              <a:gd name="adj" fmla="val 8235"/>
            </a:avLst>
          </a:prstGeom>
          <a:solidFill>
            <a:srgbClr val="141B33"/>
          </a:solidFill>
          <a:ln w="16510">
            <a:solidFill>
              <a:srgbClr val="7C6F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5006340"/>
            <a:ext cx="457200" cy="457200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006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17320" y="49743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C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417320" y="52486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Data API v3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92040" y="1188720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— IMPORTING A PLAYLIST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1536192"/>
            <a:ext cx="6720840" cy="566928"/>
          </a:xfrm>
          <a:prstGeom prst="roundRect">
            <a:avLst>
              <a:gd name="adj" fmla="val 48387"/>
            </a:avLst>
          </a:prstGeom>
          <a:solidFill>
            <a:srgbClr val="141B33"/>
          </a:solidFill>
          <a:ln w="15240">
            <a:solidFill>
              <a:srgbClr val="7C6F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84064" y="1627632"/>
            <a:ext cx="384048" cy="384048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31" name="Text 29"/>
          <p:cNvSpPr/>
          <p:nvPr/>
        </p:nvSpPr>
        <p:spPr>
          <a:xfrm>
            <a:off x="5084064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05272" y="15910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7C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06640" y="153619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Pastes YouTube playlist / video URL(s) into the React import form.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76088" y="2103120"/>
            <a:ext cx="4572" cy="219456"/>
          </a:xfrm>
          <a:prstGeom prst="line">
            <a:avLst/>
          </a:prstGeom>
          <a:noFill/>
          <a:ln w="22225">
            <a:solidFill>
              <a:srgbClr val="6B769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892040" y="2322576"/>
            <a:ext cx="6720840" cy="566928"/>
          </a:xfrm>
          <a:prstGeom prst="roundRect">
            <a:avLst>
              <a:gd name="adj" fmla="val 48387"/>
            </a:avLst>
          </a:prstGeom>
          <a:solidFill>
            <a:srgbClr val="141B33"/>
          </a:solidFill>
          <a:ln w="15240">
            <a:solidFill>
              <a:srgbClr val="2AD8B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84064" y="2414016"/>
            <a:ext cx="384048" cy="384048"/>
          </a:xfrm>
          <a:prstGeom prst="ellipse">
            <a:avLst/>
          </a:prstGeom>
          <a:solidFill>
            <a:srgbClr val="2AD8B9"/>
          </a:solidFill>
          <a:ln/>
        </p:spPr>
      </p:sp>
      <p:sp>
        <p:nvSpPr>
          <p:cNvPr id="37" name="Text 35"/>
          <p:cNvSpPr/>
          <p:nvPr/>
        </p:nvSpPr>
        <p:spPr>
          <a:xfrm>
            <a:off x="5084064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605272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→ API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06640" y="232257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sends a POST /api/playlist/import request to FastAPI.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276088" y="2889504"/>
            <a:ext cx="4572" cy="219456"/>
          </a:xfrm>
          <a:prstGeom prst="line">
            <a:avLst/>
          </a:prstGeom>
          <a:noFill/>
          <a:ln w="22225">
            <a:solidFill>
              <a:srgbClr val="6B769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892040" y="3108960"/>
            <a:ext cx="6720840" cy="566928"/>
          </a:xfrm>
          <a:prstGeom prst="roundRect">
            <a:avLst>
              <a:gd name="adj" fmla="val 48387"/>
            </a:avLst>
          </a:prstGeom>
          <a:solidFill>
            <a:srgbClr val="141B33"/>
          </a:solidFill>
          <a:ln w="15240">
            <a:solidFill>
              <a:srgbClr val="7C6F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84064" y="3200400"/>
            <a:ext cx="384048" cy="384048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43" name="Text 41"/>
          <p:cNvSpPr/>
          <p:nvPr/>
        </p:nvSpPr>
        <p:spPr>
          <a:xfrm>
            <a:off x="5084064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605272" y="316382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7C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406640" y="31089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validated and passed to PlaylistService.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276088" y="3675888"/>
            <a:ext cx="4572" cy="219456"/>
          </a:xfrm>
          <a:prstGeom prst="line">
            <a:avLst/>
          </a:prstGeom>
          <a:noFill/>
          <a:ln w="22225">
            <a:solidFill>
              <a:srgbClr val="6B769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4892040" y="3895344"/>
            <a:ext cx="6720840" cy="566928"/>
          </a:xfrm>
          <a:prstGeom prst="roundRect">
            <a:avLst>
              <a:gd name="adj" fmla="val 48387"/>
            </a:avLst>
          </a:prstGeom>
          <a:solidFill>
            <a:srgbClr val="141B33"/>
          </a:solidFill>
          <a:ln w="15240">
            <a:solidFill>
              <a:srgbClr val="2AD8B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84064" y="3986784"/>
            <a:ext cx="384048" cy="384048"/>
          </a:xfrm>
          <a:prstGeom prst="ellipse">
            <a:avLst/>
          </a:prstGeom>
          <a:solidFill>
            <a:srgbClr val="2AD8B9"/>
          </a:solidFill>
          <a:ln/>
        </p:spPr>
      </p:sp>
      <p:sp>
        <p:nvSpPr>
          <p:cNvPr id="49" name="Text 47"/>
          <p:cNvSpPr/>
          <p:nvPr/>
        </p:nvSpPr>
        <p:spPr>
          <a:xfrm>
            <a:off x="5084064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605272" y="39502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Data API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06640" y="389534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all video titles, IDs &amp; durations (paginated).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276088" y="4462272"/>
            <a:ext cx="4572" cy="219456"/>
          </a:xfrm>
          <a:prstGeom prst="line">
            <a:avLst/>
          </a:prstGeom>
          <a:noFill/>
          <a:ln w="22225">
            <a:solidFill>
              <a:srgbClr val="6B7690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4892040" y="4681728"/>
            <a:ext cx="6720840" cy="566928"/>
          </a:xfrm>
          <a:prstGeom prst="roundRect">
            <a:avLst>
              <a:gd name="adj" fmla="val 48387"/>
            </a:avLst>
          </a:prstGeom>
          <a:solidFill>
            <a:srgbClr val="141B33"/>
          </a:solidFill>
          <a:ln w="15240">
            <a:solidFill>
              <a:srgbClr val="7C6F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84064" y="4773168"/>
            <a:ext cx="384048" cy="384048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55" name="Text 53"/>
          <p:cNvSpPr/>
          <p:nvPr/>
        </p:nvSpPr>
        <p:spPr>
          <a:xfrm>
            <a:off x="5084064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605272" y="47365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7C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406640" y="468172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 stored with duplicate-safe UNIQUE constraints.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276088" y="5248656"/>
            <a:ext cx="4572" cy="219456"/>
          </a:xfrm>
          <a:prstGeom prst="line">
            <a:avLst/>
          </a:prstGeom>
          <a:noFill/>
          <a:ln w="22225">
            <a:solidFill>
              <a:srgbClr val="6B7690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4892040" y="5468112"/>
            <a:ext cx="6720840" cy="566928"/>
          </a:xfrm>
          <a:prstGeom prst="roundRect">
            <a:avLst>
              <a:gd name="adj" fmla="val 48387"/>
            </a:avLst>
          </a:prstGeom>
          <a:solidFill>
            <a:srgbClr val="141B33"/>
          </a:solidFill>
          <a:ln w="15240">
            <a:solidFill>
              <a:srgbClr val="2AD8B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084064" y="5559552"/>
            <a:ext cx="384048" cy="384048"/>
          </a:xfrm>
          <a:prstGeom prst="ellipse">
            <a:avLst/>
          </a:prstGeom>
          <a:solidFill>
            <a:srgbClr val="2AD8B9"/>
          </a:solidFill>
          <a:ln/>
        </p:spPr>
      </p:sp>
      <p:sp>
        <p:nvSpPr>
          <p:cNvPr id="61" name="Text 59"/>
          <p:cNvSpPr/>
          <p:nvPr/>
        </p:nvSpPr>
        <p:spPr>
          <a:xfrm>
            <a:off x="5084064" y="5559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5605272" y="55229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406640" y="546811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refetches and re-renders live progress instantly.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892040" y="6300216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flow: checkbox toggle → PATCH /api/progress/{id} → idempotency check → % recalculated → UI updates instantly.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48640" y="58064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Data API quota: 10,000 units/day · playlistItems fetched in pages of 50 via nextPageToken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331720" cy="1965960"/>
          </a:xfrm>
          <a:prstGeom prst="roundRect">
            <a:avLst>
              <a:gd name="adj" fmla="val 2791"/>
            </a:avLst>
          </a:prstGeom>
          <a:solidFill>
            <a:srgbClr val="141B33"/>
          </a:solidFill>
          <a:ln w="17780">
            <a:solidFill>
              <a:srgbClr val="7C6F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7C6FF0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600200"/>
            <a:ext cx="2331720" cy="201168"/>
          </a:xfrm>
          <a:prstGeom prst="rect">
            <a:avLst/>
          </a:prstGeom>
          <a:solidFill>
            <a:srgbClr val="7C6FF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7512" y="192024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7512" y="217170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7512" y="242316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" y="267462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331720" cy="1965960"/>
          </a:xfrm>
          <a:prstGeom prst="roundRect">
            <a:avLst>
              <a:gd name="adj" fmla="val 2791"/>
            </a:avLst>
          </a:prstGeom>
          <a:solidFill>
            <a:srgbClr val="141B33"/>
          </a:solidFill>
          <a:ln w="17780">
            <a:solidFill>
              <a:srgbClr val="2AD8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41732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2AD8B9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1600200"/>
            <a:ext cx="2331720" cy="201168"/>
          </a:xfrm>
          <a:prstGeom prst="rect">
            <a:avLst/>
          </a:prstGeom>
          <a:solidFill>
            <a:srgbClr val="2AD8B9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4173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64992" y="192024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64992" y="217170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subject_id (FK)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64992" y="242316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yt_playlist_id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64992" y="267462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97880" y="1417320"/>
            <a:ext cx="2331720" cy="2194560"/>
          </a:xfrm>
          <a:prstGeom prst="roundRect">
            <a:avLst>
              <a:gd name="adj" fmla="val 2500"/>
            </a:avLst>
          </a:prstGeom>
          <a:solidFill>
            <a:srgbClr val="141B33"/>
          </a:solidFill>
          <a:ln w="17780">
            <a:solidFill>
              <a:srgbClr val="F2B84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141732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F2B84B"/>
          </a:solidFill>
          <a:ln/>
        </p:spPr>
      </p:sp>
      <p:sp>
        <p:nvSpPr>
          <p:cNvPr id="22" name="Shape 20"/>
          <p:cNvSpPr/>
          <p:nvPr/>
        </p:nvSpPr>
        <p:spPr>
          <a:xfrm>
            <a:off x="5897880" y="1600200"/>
            <a:ext cx="2331720" cy="201168"/>
          </a:xfrm>
          <a:prstGeom prst="rect">
            <a:avLst/>
          </a:prstGeom>
          <a:solidFill>
            <a:srgbClr val="F2B84B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14173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062472" y="192024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62472" y="217170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playlist_id (FK)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62472" y="242316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video_id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62472" y="267462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62472" y="292608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595360" y="1417320"/>
            <a:ext cx="3063240" cy="2194560"/>
          </a:xfrm>
          <a:prstGeom prst="roundRect">
            <a:avLst>
              <a:gd name="adj" fmla="val 2500"/>
            </a:avLst>
          </a:prstGeom>
          <a:solidFill>
            <a:srgbClr val="141B33"/>
          </a:solidFill>
          <a:ln w="17780">
            <a:solidFill>
              <a:srgbClr val="7C6F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95360" y="1417320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7C6FF0"/>
          </a:solidFill>
          <a:ln/>
        </p:spPr>
      </p:sp>
      <p:sp>
        <p:nvSpPr>
          <p:cNvPr id="31" name="Shape 29"/>
          <p:cNvSpPr/>
          <p:nvPr/>
        </p:nvSpPr>
        <p:spPr>
          <a:xfrm>
            <a:off x="8595360" y="1600200"/>
            <a:ext cx="3063240" cy="201168"/>
          </a:xfrm>
          <a:prstGeom prst="rect">
            <a:avLst/>
          </a:prstGeom>
          <a:solidFill>
            <a:srgbClr val="7C6FF0"/>
          </a:solidFill>
          <a:ln/>
        </p:spPr>
      </p:sp>
      <p:sp>
        <p:nvSpPr>
          <p:cNvPr id="32" name="Text 30"/>
          <p:cNvSpPr/>
          <p:nvPr/>
        </p:nvSpPr>
        <p:spPr>
          <a:xfrm>
            <a:off x="8732520" y="14173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759952" y="192024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759952" y="217170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759952" y="242316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lecture_id (FK)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759952" y="267462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completed_at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595360" y="3931920"/>
            <a:ext cx="3063240" cy="1691640"/>
          </a:xfrm>
          <a:prstGeom prst="roundRect">
            <a:avLst>
              <a:gd name="adj" fmla="val 3243"/>
            </a:avLst>
          </a:prstGeom>
          <a:solidFill>
            <a:srgbClr val="141B33"/>
          </a:solidFill>
          <a:ln w="17780">
            <a:solidFill>
              <a:srgbClr val="2AD8B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95360" y="3931920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2AD8B9"/>
          </a:solidFill>
          <a:ln/>
        </p:spPr>
      </p:sp>
      <p:sp>
        <p:nvSpPr>
          <p:cNvPr id="39" name="Shape 37"/>
          <p:cNvSpPr/>
          <p:nvPr/>
        </p:nvSpPr>
        <p:spPr>
          <a:xfrm>
            <a:off x="8595360" y="4114800"/>
            <a:ext cx="3063240" cy="201168"/>
          </a:xfrm>
          <a:prstGeom prst="rect">
            <a:avLst/>
          </a:prstGeom>
          <a:solidFill>
            <a:srgbClr val="2AD8B9"/>
          </a:solidFill>
          <a:ln/>
        </p:spPr>
      </p:sp>
      <p:sp>
        <p:nvSpPr>
          <p:cNvPr id="40" name="Text 38"/>
          <p:cNvSpPr/>
          <p:nvPr/>
        </p:nvSpPr>
        <p:spPr>
          <a:xfrm>
            <a:off x="8732520" y="39319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759952" y="443484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759952" y="468630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lecture_id (FK)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759952" y="493776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timestamp_sec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759952" y="518922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834640" y="2377440"/>
            <a:ext cx="365760" cy="9144"/>
          </a:xfrm>
          <a:prstGeom prst="line">
            <a:avLst/>
          </a:prstGeom>
          <a:noFill/>
          <a:ln w="19050">
            <a:solidFill>
              <a:srgbClr val="6B7690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5532120" y="2377440"/>
            <a:ext cx="365760" cy="9144"/>
          </a:xfrm>
          <a:prstGeom prst="line">
            <a:avLst/>
          </a:prstGeom>
          <a:noFill/>
          <a:ln w="19050">
            <a:solidFill>
              <a:srgbClr val="6B7690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8229600" y="2468880"/>
            <a:ext cx="365760" cy="9144"/>
          </a:xfrm>
          <a:prstGeom prst="line">
            <a:avLst/>
          </a:prstGeom>
          <a:noFill/>
          <a:ln w="19050">
            <a:solidFill>
              <a:srgbClr val="6B7690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10122408" y="3611880"/>
            <a:ext cx="9144" cy="320040"/>
          </a:xfrm>
          <a:prstGeom prst="line">
            <a:avLst/>
          </a:prstGeom>
          <a:noFill/>
          <a:ln w="19050">
            <a:solidFill>
              <a:srgbClr val="6B7690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 flipH="1">
            <a:off x="7315200" y="4754880"/>
            <a:ext cx="1280160" cy="9144"/>
          </a:xfrm>
          <a:prstGeom prst="line">
            <a:avLst/>
          </a:prstGeom>
          <a:noFill/>
          <a:ln w="19050">
            <a:solidFill>
              <a:srgbClr val="6B7690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 flipV="1">
            <a:off x="7315200" y="2377440"/>
            <a:ext cx="9144" cy="2377440"/>
          </a:xfrm>
          <a:prstGeom prst="line">
            <a:avLst/>
          </a:prstGeom>
          <a:noFill/>
          <a:ln w="19050">
            <a:solidFill>
              <a:srgbClr val="6B7690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502920" y="3931920"/>
            <a:ext cx="7863840" cy="1691640"/>
          </a:xfrm>
          <a:prstGeom prst="roundRect">
            <a:avLst>
              <a:gd name="adj" fmla="val 4324"/>
            </a:avLst>
          </a:prstGeom>
          <a:solidFill>
            <a:srgbClr val="1B2440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0" y="4069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Integrity Constraints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777240" y="4517136"/>
            <a:ext cx="64008" cy="64008"/>
          </a:xfrm>
          <a:prstGeom prst="ellipse">
            <a:avLst/>
          </a:prstGeom>
          <a:solidFill>
            <a:srgbClr val="2AD8B9"/>
          </a:solidFill>
          <a:ln/>
        </p:spPr>
      </p:sp>
      <p:sp>
        <p:nvSpPr>
          <p:cNvPr id="54" name="Text 52"/>
          <p:cNvSpPr/>
          <p:nvPr/>
        </p:nvSpPr>
        <p:spPr>
          <a:xfrm>
            <a:off x="960120" y="44348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(playlist_id, video_id) on lectures — blocks a playlist import from inserting the same video twice.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77240" y="4901184"/>
            <a:ext cx="64008" cy="64008"/>
          </a:xfrm>
          <a:prstGeom prst="ellipse">
            <a:avLst/>
          </a:prstGeom>
          <a:solidFill>
            <a:srgbClr val="2AD8B9"/>
          </a:solidFill>
          <a:ln/>
        </p:spPr>
      </p:sp>
      <p:sp>
        <p:nvSpPr>
          <p:cNvPr id="56" name="Text 54"/>
          <p:cNvSpPr/>
          <p:nvPr/>
        </p:nvSpPr>
        <p:spPr>
          <a:xfrm>
            <a:off x="960120" y="481888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(user_id, lecture_id) on progress — the primary guard against duplicate completion records.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77240" y="5285232"/>
            <a:ext cx="64008" cy="64008"/>
          </a:xfrm>
          <a:prstGeom prst="ellipse">
            <a:avLst/>
          </a:prstGeom>
          <a:solidFill>
            <a:srgbClr val="2AD8B9"/>
          </a:solidFill>
          <a:ln/>
        </p:spPr>
      </p:sp>
      <p:sp>
        <p:nvSpPr>
          <p:cNvPr id="58" name="Text 56"/>
          <p:cNvSpPr/>
          <p:nvPr/>
        </p:nvSpPr>
        <p:spPr>
          <a:xfrm>
            <a:off x="960120" y="5202936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cascade subjects → playlists → lectures → progress, enforcing referential integrity at the storage layer.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5528" y="2514600"/>
            <a:ext cx="512064" cy="512064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3026664"/>
            <a:ext cx="914" cy="6858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246120"/>
            <a:ext cx="640080" cy="914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795528" y="3712464"/>
            <a:ext cx="256032" cy="50292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3712464"/>
            <a:ext cx="256032" cy="50292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31720" y="1371600"/>
            <a:ext cx="9326880" cy="5029200"/>
          </a:xfrm>
          <a:prstGeom prst="roundRect">
            <a:avLst>
              <a:gd name="adj" fmla="val 1455"/>
            </a:avLst>
          </a:prstGeom>
          <a:ln w="19050">
            <a:solidFill>
              <a:srgbClr val="2A3352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331720" y="123444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TRACKER SYSTEM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0" y="1783080"/>
            <a:ext cx="2606040" cy="777240"/>
          </a:xfrm>
          <a:prstGeom prst="ellipse">
            <a:avLst/>
          </a:prstGeom>
          <a:solidFill>
            <a:srgbClr val="141B33"/>
          </a:solidFill>
          <a:ln w="17780">
            <a:solidFill>
              <a:srgbClr val="7C6F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52928" y="178308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/ Log 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3291840"/>
            <a:ext cx="1371600" cy="-1120140"/>
          </a:xfrm>
          <a:prstGeom prst="line">
            <a:avLst/>
          </a:prstGeom>
          <a:noFill/>
          <a:ln w="12700">
            <a:solidFill>
              <a:srgbClr val="6B76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1783080"/>
            <a:ext cx="2606040" cy="777240"/>
          </a:xfrm>
          <a:prstGeom prst="ellipse">
            <a:avLst/>
          </a:prstGeom>
          <a:solidFill>
            <a:srgbClr val="141B33"/>
          </a:solidFill>
          <a:ln w="17780">
            <a:solidFill>
              <a:srgbClr val="2AD8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79008" y="178308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Subjects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95360" y="1783080"/>
            <a:ext cx="2606040" cy="777240"/>
          </a:xfrm>
          <a:prstGeom prst="ellipse">
            <a:avLst/>
          </a:prstGeom>
          <a:solidFill>
            <a:srgbClr val="141B33"/>
          </a:solidFill>
          <a:ln w="17780">
            <a:solidFill>
              <a:srgbClr val="F2B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05088" y="178308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YouTube Playlist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0" y="2880360"/>
            <a:ext cx="2606040" cy="777240"/>
          </a:xfrm>
          <a:prstGeom prst="ellipse">
            <a:avLst/>
          </a:prstGeom>
          <a:solidFill>
            <a:srgbClr val="141B33"/>
          </a:solidFill>
          <a:ln w="17780">
            <a:solidFill>
              <a:srgbClr val="2AD8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52928" y="288036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Lecture Progress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371600" y="3291840"/>
            <a:ext cx="1371600" cy="-22860"/>
          </a:xfrm>
          <a:prstGeom prst="line">
            <a:avLst/>
          </a:prstGeom>
          <a:noFill/>
          <a:ln w="12700">
            <a:solidFill>
              <a:srgbClr val="6B76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0" y="2880360"/>
            <a:ext cx="2606040" cy="777240"/>
          </a:xfrm>
          <a:prstGeom prst="ellipse">
            <a:avLst/>
          </a:prstGeom>
          <a:solidFill>
            <a:srgbClr val="141B33"/>
          </a:solidFill>
          <a:ln w="17780">
            <a:solidFill>
              <a:srgbClr val="F2B8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79008" y="288036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Study Plan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95360" y="2880360"/>
            <a:ext cx="2606040" cy="777240"/>
          </a:xfrm>
          <a:prstGeom prst="ellipse">
            <a:avLst/>
          </a:prstGeom>
          <a:solidFill>
            <a:srgbClr val="141B33"/>
          </a:solidFill>
          <a:ln w="17780">
            <a:solidFill>
              <a:srgbClr val="7C6F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05088" y="288036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Schedule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0" y="3977640"/>
            <a:ext cx="2606040" cy="777240"/>
          </a:xfrm>
          <a:prstGeom prst="ellipse">
            <a:avLst/>
          </a:prstGeom>
          <a:solidFill>
            <a:srgbClr val="141B33"/>
          </a:solidFill>
          <a:ln w="17780">
            <a:solidFill>
              <a:srgbClr val="F2B8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52928" y="397764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Analytics &amp; ETA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371600" y="3291840"/>
            <a:ext cx="1371600" cy="1074420"/>
          </a:xfrm>
          <a:prstGeom prst="line">
            <a:avLst/>
          </a:prstGeom>
          <a:noFill/>
          <a:ln w="12700">
            <a:solidFill>
              <a:srgbClr val="6B76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0" y="3977640"/>
            <a:ext cx="2606040" cy="777240"/>
          </a:xfrm>
          <a:prstGeom prst="ellipse">
            <a:avLst/>
          </a:prstGeom>
          <a:solidFill>
            <a:srgbClr val="141B33"/>
          </a:solidFill>
          <a:ln w="17780">
            <a:solidFill>
              <a:srgbClr val="7C6F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79008" y="397764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Daily Goals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95360" y="3977640"/>
            <a:ext cx="2606040" cy="777240"/>
          </a:xfrm>
          <a:prstGeom prst="ellipse">
            <a:avLst/>
          </a:prstGeom>
          <a:solidFill>
            <a:srgbClr val="141B33"/>
          </a:solidFill>
          <a:ln w="17780">
            <a:solidFill>
              <a:srgbClr val="2AD8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05088" y="397764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Lecture Moments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Student Sees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4937760"/>
          </a:xfrm>
          <a:prstGeom prst="roundRect">
            <a:avLst>
              <a:gd name="adj" fmla="val 1481"/>
            </a:avLst>
          </a:prstGeom>
          <a:solidFill>
            <a:srgbClr val="10182E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1B244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45920"/>
            <a:ext cx="5349240" cy="228600"/>
          </a:xfrm>
          <a:prstGeom prst="rect">
            <a:avLst/>
          </a:prstGeom>
          <a:solidFill>
            <a:srgbClr val="1B244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3619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7C6FF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4904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StudyTrack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039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80560" y="203911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7C6FF0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0391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 Subject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22960" y="2514600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141B33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606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SUBJECTS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960120" y="2834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6F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560320" y="2514600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141B33"/>
          </a:solidFill>
          <a:ln/>
        </p:spPr>
      </p:sp>
      <p:sp>
        <p:nvSpPr>
          <p:cNvPr id="16" name="Text 14"/>
          <p:cNvSpPr/>
          <p:nvPr/>
        </p:nvSpPr>
        <p:spPr>
          <a:xfrm>
            <a:off x="2697480" y="2606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LECTURES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697480" y="2834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6F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297680" y="2514600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141B33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2606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434840" y="2834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D8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22960" y="3520440"/>
            <a:ext cx="2468880" cy="1371600"/>
          </a:xfrm>
          <a:prstGeom prst="roundRect">
            <a:avLst>
              <a:gd name="adj" fmla="val 3333"/>
            </a:avLst>
          </a:prstGeom>
          <a:solidFill>
            <a:srgbClr val="141B33"/>
          </a:solidFill>
          <a:ln w="12700">
            <a:solidFill>
              <a:srgbClr val="7C6F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87552" y="4160520"/>
            <a:ext cx="2139696" cy="91440"/>
          </a:xfrm>
          <a:prstGeom prst="roundRect">
            <a:avLst>
              <a:gd name="adj" fmla="val 50000"/>
            </a:avLst>
          </a:prstGeom>
          <a:solidFill>
            <a:srgbClr val="2A3352"/>
          </a:solidFill>
          <a:ln/>
        </p:spPr>
      </p:sp>
      <p:sp>
        <p:nvSpPr>
          <p:cNvPr id="24" name="Shape 22"/>
          <p:cNvSpPr/>
          <p:nvPr/>
        </p:nvSpPr>
        <p:spPr>
          <a:xfrm>
            <a:off x="987552" y="4160520"/>
            <a:ext cx="252704" cy="91440"/>
          </a:xfrm>
          <a:prstGeom prst="roundRect">
            <a:avLst>
              <a:gd name="adj" fmla="val 50000"/>
            </a:avLst>
          </a:prstGeom>
          <a:solidFill>
            <a:srgbClr val="7C6FF0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" y="434340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150 lectures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29000" y="3520440"/>
            <a:ext cx="2468880" cy="1371600"/>
          </a:xfrm>
          <a:prstGeom prst="roundRect">
            <a:avLst>
              <a:gd name="adj" fmla="val 3333"/>
            </a:avLst>
          </a:prstGeom>
          <a:solidFill>
            <a:srgbClr val="141B33"/>
          </a:solidFill>
          <a:ln w="12700">
            <a:solidFill>
              <a:srgbClr val="2AD8B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93592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593592" y="4160520"/>
            <a:ext cx="2139696" cy="91440"/>
          </a:xfrm>
          <a:prstGeom prst="roundRect">
            <a:avLst>
              <a:gd name="adj" fmla="val 50000"/>
            </a:avLst>
          </a:prstGeom>
          <a:solidFill>
            <a:srgbClr val="2A3352"/>
          </a:solidFill>
          <a:ln/>
        </p:spPr>
      </p:sp>
      <p:sp>
        <p:nvSpPr>
          <p:cNvPr id="29" name="Shape 27"/>
          <p:cNvSpPr/>
          <p:nvPr/>
        </p:nvSpPr>
        <p:spPr>
          <a:xfrm>
            <a:off x="3593592" y="4160520"/>
            <a:ext cx="252704" cy="91440"/>
          </a:xfrm>
          <a:prstGeom prst="roundRect">
            <a:avLst>
              <a:gd name="adj" fmla="val 50000"/>
            </a:avLst>
          </a:prstGeom>
          <a:solidFill>
            <a:srgbClr val="2AD8B9"/>
          </a:solidFill>
          <a:ln/>
        </p:spPr>
      </p:sp>
      <p:sp>
        <p:nvSpPr>
          <p:cNvPr id="30" name="Text 28"/>
          <p:cNvSpPr/>
          <p:nvPr/>
        </p:nvSpPr>
        <p:spPr>
          <a:xfrm>
            <a:off x="3593592" y="434340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173 lectures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Study Plan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22960" y="5394960"/>
            <a:ext cx="4800600" cy="310896"/>
          </a:xfrm>
          <a:prstGeom prst="roundRect">
            <a:avLst>
              <a:gd name="adj" fmla="val 11765"/>
            </a:avLst>
          </a:prstGeom>
          <a:solidFill>
            <a:srgbClr val="141B33"/>
          </a:solidFill>
          <a:ln/>
        </p:spPr>
      </p:sp>
      <p:sp>
        <p:nvSpPr>
          <p:cNvPr id="33" name="Shape 31"/>
          <p:cNvSpPr/>
          <p:nvPr/>
        </p:nvSpPr>
        <p:spPr>
          <a:xfrm>
            <a:off x="932688" y="5477256"/>
            <a:ext cx="146304" cy="146304"/>
          </a:xfrm>
          <a:prstGeom prst="roundRect">
            <a:avLst>
              <a:gd name="adj" fmla="val 18750"/>
            </a:avLst>
          </a:prstGeom>
          <a:ln w="17780">
            <a:solidFill>
              <a:srgbClr val="2AD8B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70432" y="539496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 Language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22960" y="5779008"/>
            <a:ext cx="4800600" cy="310896"/>
          </a:xfrm>
          <a:prstGeom prst="roundRect">
            <a:avLst>
              <a:gd name="adj" fmla="val 11765"/>
            </a:avLst>
          </a:prstGeom>
          <a:solidFill>
            <a:srgbClr val="141B33"/>
          </a:solidFill>
          <a:ln/>
        </p:spPr>
      </p:sp>
      <p:sp>
        <p:nvSpPr>
          <p:cNvPr id="36" name="Shape 34"/>
          <p:cNvSpPr/>
          <p:nvPr/>
        </p:nvSpPr>
        <p:spPr>
          <a:xfrm>
            <a:off x="932688" y="5861304"/>
            <a:ext cx="146304" cy="146304"/>
          </a:xfrm>
          <a:prstGeom prst="roundRect">
            <a:avLst>
              <a:gd name="adj" fmla="val 18750"/>
            </a:avLst>
          </a:prstGeom>
          <a:ln w="17780">
            <a:solidFill>
              <a:srgbClr val="2AD8B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70432" y="5779008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vs High Level Languages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22960" y="6163056"/>
            <a:ext cx="4800600" cy="310896"/>
          </a:xfrm>
          <a:prstGeom prst="roundRect">
            <a:avLst>
              <a:gd name="adj" fmla="val 11765"/>
            </a:avLst>
          </a:prstGeom>
          <a:solidFill>
            <a:srgbClr val="141B33"/>
          </a:solidFill>
          <a:ln/>
        </p:spPr>
      </p:sp>
      <p:sp>
        <p:nvSpPr>
          <p:cNvPr id="39" name="Shape 37"/>
          <p:cNvSpPr/>
          <p:nvPr/>
        </p:nvSpPr>
        <p:spPr>
          <a:xfrm>
            <a:off x="932688" y="6245352"/>
            <a:ext cx="146304" cy="146304"/>
          </a:xfrm>
          <a:prstGeom prst="roundRect">
            <a:avLst>
              <a:gd name="adj" fmla="val 18750"/>
            </a:avLst>
          </a:prstGeom>
          <a:ln w="17780">
            <a:solidFill>
              <a:srgbClr val="2AD8B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70432" y="6163056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Translators &amp; Compilers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8640" y="642823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subject-wise progress at a glance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63640" y="141732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10182E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63640" y="141732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1B2440"/>
          </a:solidFill>
          <a:ln/>
        </p:spPr>
      </p:sp>
      <p:sp>
        <p:nvSpPr>
          <p:cNvPr id="44" name="Shape 42"/>
          <p:cNvSpPr/>
          <p:nvPr/>
        </p:nvSpPr>
        <p:spPr>
          <a:xfrm>
            <a:off x="6263640" y="1645920"/>
            <a:ext cx="5394960" cy="228600"/>
          </a:xfrm>
          <a:prstGeom prst="rect">
            <a:avLst/>
          </a:prstGeom>
          <a:solidFill>
            <a:srgbClr val="1B2440"/>
          </a:solidFill>
          <a:ln/>
        </p:spPr>
      </p:sp>
      <p:sp>
        <p:nvSpPr>
          <p:cNvPr id="45" name="Text 43"/>
          <p:cNvSpPr/>
          <p:nvPr/>
        </p:nvSpPr>
        <p:spPr>
          <a:xfrm>
            <a:off x="6492240" y="14904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Study Plan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0424160" y="15087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3A2233"/>
          </a:solidFill>
          <a:ln/>
        </p:spPr>
      </p:sp>
      <p:sp>
        <p:nvSpPr>
          <p:cNvPr id="47" name="Text 45"/>
          <p:cNvSpPr/>
          <p:nvPr/>
        </p:nvSpPr>
        <p:spPr>
          <a:xfrm>
            <a:off x="10424160" y="1508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Plan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492240" y="2039112"/>
            <a:ext cx="4937760" cy="658368"/>
          </a:xfrm>
          <a:prstGeom prst="roundRect">
            <a:avLst>
              <a:gd name="adj" fmla="val 8333"/>
            </a:avLst>
          </a:prstGeom>
          <a:solidFill>
            <a:srgbClr val="251A2A"/>
          </a:solidFill>
          <a:ln w="12700">
            <a:solidFill>
              <a:srgbClr val="F0708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75120" y="203911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0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You are behind schedule
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Deviation: 77 minutes  ·  Estimated completion: May 24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492240" y="2862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Plan Breakdown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492240" y="3200400"/>
            <a:ext cx="4937760" cy="1261872"/>
          </a:xfrm>
          <a:prstGeom prst="roundRect">
            <a:avLst>
              <a:gd name="adj" fmla="val 3623"/>
            </a:avLst>
          </a:prstGeom>
          <a:solidFill>
            <a:srgbClr val="141B33"/>
          </a:solidFill>
          <a:ln/>
        </p:spPr>
      </p:sp>
      <p:sp>
        <p:nvSpPr>
          <p:cNvPr id="52" name="Text 50"/>
          <p:cNvSpPr/>
          <p:nvPr/>
        </p:nvSpPr>
        <p:spPr>
          <a:xfrm>
            <a:off x="6647688" y="32735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0561320" y="32735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17m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766560" y="35295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Introduction to C Language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766560" y="38039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Low vs High Level Languages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766560" y="407822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Language Translators | Compiler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492240" y="4590288"/>
            <a:ext cx="4937760" cy="1261872"/>
          </a:xfrm>
          <a:prstGeom prst="roundRect">
            <a:avLst>
              <a:gd name="adj" fmla="val 3623"/>
            </a:avLst>
          </a:prstGeom>
          <a:solidFill>
            <a:srgbClr val="141B33"/>
          </a:solidFill>
          <a:ln/>
        </p:spPr>
      </p:sp>
      <p:sp>
        <p:nvSpPr>
          <p:cNvPr id="58" name="Text 56"/>
          <p:cNvSpPr/>
          <p:nvPr/>
        </p:nvSpPr>
        <p:spPr>
          <a:xfrm>
            <a:off x="6647688" y="4663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10561320" y="46634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25m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766560" y="49194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Constants in C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766560" y="51937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Variables in C Programming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766560" y="54681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Keywords and Identifiers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263640" y="64282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Planner — deviation tracking &amp; per-day breakdown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0789920" cy="566928"/>
          </a:xfrm>
          <a:prstGeom prst="roundRect">
            <a:avLst>
              <a:gd name="adj" fmla="val 12903"/>
            </a:avLst>
          </a:prstGeom>
          <a:solidFill>
            <a:srgbClr val="2A2411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152144"/>
            <a:ext cx="365760" cy="365760"/>
          </a:xfrm>
          <a:prstGeom prst="ellipse">
            <a:avLst/>
          </a:prstGeom>
          <a:solidFill>
            <a:srgbClr val="3A321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52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105156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Assistant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planned first, via Gemini/LLM: instant note generation + an interactive AI Subject Chat.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4160520"/>
            <a:ext cx="10195560" cy="4572"/>
          </a:xfrm>
          <a:prstGeom prst="line">
            <a:avLst/>
          </a:prstGeom>
          <a:noFill/>
          <a:ln w="31750">
            <a:solidFill>
              <a:srgbClr val="2A33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" y="4059936"/>
            <a:ext cx="201168" cy="201168"/>
          </a:xfrm>
          <a:prstGeom prst="ellipse">
            <a:avLst/>
          </a:prstGeom>
          <a:solidFill>
            <a:srgbClr val="F2B84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840480"/>
            <a:ext cx="4572" cy="219456"/>
          </a:xfrm>
          <a:prstGeom prst="line">
            <a:avLst/>
          </a:prstGeom>
          <a:noFill/>
          <a:ln w="15875">
            <a:solidFill>
              <a:srgbClr val="6B76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" y="2423160"/>
            <a:ext cx="1481328" cy="1417320"/>
          </a:xfrm>
          <a:prstGeom prst="roundRect">
            <a:avLst>
              <a:gd name="adj" fmla="val 4516"/>
            </a:avLst>
          </a:prstGeom>
          <a:solidFill>
            <a:srgbClr val="141B33"/>
          </a:solidFill>
          <a:ln w="15240">
            <a:solidFill>
              <a:srgbClr val="F2B8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" y="2523744"/>
            <a:ext cx="384048" cy="384048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" y="2990088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Quizzes &amp; Flashcards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8328" y="344728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MCQs + SRS reviews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604516" y="4059936"/>
            <a:ext cx="201168" cy="201168"/>
          </a:xfrm>
          <a:prstGeom prst="ellipse">
            <a:avLst/>
          </a:prstGeom>
          <a:solidFill>
            <a:srgbClr val="F2B84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05100" y="4261104"/>
            <a:ext cx="4572" cy="219456"/>
          </a:xfrm>
          <a:prstGeom prst="line">
            <a:avLst/>
          </a:prstGeom>
          <a:noFill/>
          <a:ln w="15875">
            <a:solidFill>
              <a:srgbClr val="6B76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4436" y="4480560"/>
            <a:ext cx="1481328" cy="1417320"/>
          </a:xfrm>
          <a:prstGeom prst="roundRect">
            <a:avLst>
              <a:gd name="adj" fmla="val 4516"/>
            </a:avLst>
          </a:prstGeom>
          <a:solidFill>
            <a:srgbClr val="141B33"/>
          </a:solidFill>
          <a:ln w="15240">
            <a:solidFill>
              <a:srgbClr val="F2B8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3076" y="4581144"/>
            <a:ext cx="384048" cy="384048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0" name="Text 18"/>
          <p:cNvSpPr/>
          <p:nvPr/>
        </p:nvSpPr>
        <p:spPr>
          <a:xfrm>
            <a:off x="2513076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037588" y="5047488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/ Pomodoro Timer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037588" y="550468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real study hours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303776" y="4059936"/>
            <a:ext cx="201168" cy="201168"/>
          </a:xfrm>
          <a:prstGeom prst="ellipse">
            <a:avLst/>
          </a:prstGeom>
          <a:solidFill>
            <a:srgbClr val="F2B84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04360" y="3840480"/>
            <a:ext cx="4572" cy="219456"/>
          </a:xfrm>
          <a:prstGeom prst="line">
            <a:avLst/>
          </a:prstGeom>
          <a:noFill/>
          <a:ln w="15875">
            <a:solidFill>
              <a:srgbClr val="6B76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63696" y="2423160"/>
            <a:ext cx="1481328" cy="1417320"/>
          </a:xfrm>
          <a:prstGeom prst="roundRect">
            <a:avLst>
              <a:gd name="adj" fmla="val 4516"/>
            </a:avLst>
          </a:prstGeom>
          <a:solidFill>
            <a:srgbClr val="141B33"/>
          </a:solidFill>
          <a:ln w="15240">
            <a:solidFill>
              <a:srgbClr val="F2B84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12336" y="2523744"/>
            <a:ext cx="384048" cy="384048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7" name="Text 25"/>
          <p:cNvSpPr/>
          <p:nvPr/>
        </p:nvSpPr>
        <p:spPr>
          <a:xfrm>
            <a:off x="4212336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☲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36848" y="2990088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Import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736848" y="344728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Coursera, Udemy, PDFs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003036" y="4059936"/>
            <a:ext cx="201168" cy="201168"/>
          </a:xfrm>
          <a:prstGeom prst="ellipse">
            <a:avLst/>
          </a:prstGeom>
          <a:solidFill>
            <a:srgbClr val="F2B84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03620" y="4261104"/>
            <a:ext cx="4572" cy="219456"/>
          </a:xfrm>
          <a:prstGeom prst="line">
            <a:avLst/>
          </a:prstGeom>
          <a:noFill/>
          <a:ln w="15875">
            <a:solidFill>
              <a:srgbClr val="6B76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62956" y="4480560"/>
            <a:ext cx="1481328" cy="1417320"/>
          </a:xfrm>
          <a:prstGeom prst="roundRect">
            <a:avLst>
              <a:gd name="adj" fmla="val 4516"/>
            </a:avLst>
          </a:prstGeom>
          <a:solidFill>
            <a:srgbClr val="141B33"/>
          </a:solidFill>
          <a:ln w="15240">
            <a:solidFill>
              <a:srgbClr val="F2B84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11596" y="4581144"/>
            <a:ext cx="384048" cy="384048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34" name="Text 32"/>
          <p:cNvSpPr/>
          <p:nvPr/>
        </p:nvSpPr>
        <p:spPr>
          <a:xfrm>
            <a:off x="5911596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36108" y="5047488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36108" y="550468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Streaks, XP, Study Rooms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702296" y="4059936"/>
            <a:ext cx="201168" cy="201168"/>
          </a:xfrm>
          <a:prstGeom prst="ellipse">
            <a:avLst/>
          </a:prstGeom>
          <a:solidFill>
            <a:srgbClr val="F2B84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02880" y="3840480"/>
            <a:ext cx="4572" cy="219456"/>
          </a:xfrm>
          <a:prstGeom prst="line">
            <a:avLst/>
          </a:prstGeom>
          <a:noFill/>
          <a:ln w="15875">
            <a:solidFill>
              <a:srgbClr val="6B769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62216" y="2423160"/>
            <a:ext cx="1481328" cy="1417320"/>
          </a:xfrm>
          <a:prstGeom prst="roundRect">
            <a:avLst>
              <a:gd name="adj" fmla="val 4516"/>
            </a:avLst>
          </a:prstGeom>
          <a:solidFill>
            <a:srgbClr val="141B33"/>
          </a:solidFill>
          <a:ln w="15240">
            <a:solidFill>
              <a:srgbClr val="F2B84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10856" y="2523744"/>
            <a:ext cx="384048" cy="384048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41" name="Text 39"/>
          <p:cNvSpPr/>
          <p:nvPr/>
        </p:nvSpPr>
        <p:spPr>
          <a:xfrm>
            <a:off x="7610856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135368" y="2990088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/ Mobile Support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135368" y="344728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+ push alerts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401556" y="4059936"/>
            <a:ext cx="201168" cy="201168"/>
          </a:xfrm>
          <a:prstGeom prst="ellipse">
            <a:avLst/>
          </a:prstGeom>
          <a:solidFill>
            <a:srgbClr val="F2B84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502140" y="4261104"/>
            <a:ext cx="4572" cy="219456"/>
          </a:xfrm>
          <a:prstGeom prst="line">
            <a:avLst/>
          </a:prstGeom>
          <a:noFill/>
          <a:ln w="15875">
            <a:solidFill>
              <a:srgbClr val="6B769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61476" y="4480560"/>
            <a:ext cx="1481328" cy="1417320"/>
          </a:xfrm>
          <a:prstGeom prst="roundRect">
            <a:avLst>
              <a:gd name="adj" fmla="val 4516"/>
            </a:avLst>
          </a:prstGeom>
          <a:solidFill>
            <a:srgbClr val="141B33"/>
          </a:solidFill>
          <a:ln w="15240">
            <a:solidFill>
              <a:srgbClr val="F2B84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310116" y="4581144"/>
            <a:ext cx="384048" cy="384048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48" name="Text 46"/>
          <p:cNvSpPr/>
          <p:nvPr/>
        </p:nvSpPr>
        <p:spPr>
          <a:xfrm>
            <a:off x="9310116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834628" y="5047488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Scheduling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834628" y="550468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Auto-prioritise weak subjects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1100816" y="4059936"/>
            <a:ext cx="201168" cy="201168"/>
          </a:xfrm>
          <a:prstGeom prst="ellipse">
            <a:avLst/>
          </a:prstGeom>
          <a:solidFill>
            <a:srgbClr val="F2B84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201400" y="3840480"/>
            <a:ext cx="4572" cy="219456"/>
          </a:xfrm>
          <a:prstGeom prst="line">
            <a:avLst/>
          </a:prstGeom>
          <a:noFill/>
          <a:ln w="15875">
            <a:solidFill>
              <a:srgbClr val="6B769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460736" y="2423160"/>
            <a:ext cx="1481328" cy="1417320"/>
          </a:xfrm>
          <a:prstGeom prst="roundRect">
            <a:avLst>
              <a:gd name="adj" fmla="val 4516"/>
            </a:avLst>
          </a:prstGeom>
          <a:solidFill>
            <a:srgbClr val="141B33"/>
          </a:solidFill>
          <a:ln w="15240">
            <a:solidFill>
              <a:srgbClr val="F2B84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009376" y="2523744"/>
            <a:ext cx="384048" cy="384048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55" name="Text 53"/>
          <p:cNvSpPr/>
          <p:nvPr/>
        </p:nvSpPr>
        <p:spPr>
          <a:xfrm>
            <a:off x="11009376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0533888" y="2990088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 Sync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0533888" y="344728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on your calendar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2026-07-16T20:32:46Z</dcterms:created>
  <dcterms:modified xsi:type="dcterms:W3CDTF">2026-07-16T20:32:46Z</dcterms:modified>
</cp:coreProperties>
</file>