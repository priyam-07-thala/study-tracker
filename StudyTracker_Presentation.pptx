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206240" cy="4206240"/>
          </a:xfrm>
          <a:prstGeom prst="ellipse">
            <a:avLst/>
          </a:prstGeom>
          <a:solidFill>
            <a:srgbClr val="7C6FF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65760"/>
            <a:ext cx="2377440" cy="2377440"/>
          </a:xfrm>
          <a:prstGeom prst="ellipse">
            <a:avLst/>
          </a:prstGeom>
          <a:solidFill>
            <a:srgbClr val="2AD8B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206240"/>
            <a:ext cx="1280160" cy="1280160"/>
          </a:xfrm>
          <a:prstGeom prst="ellipse">
            <a:avLst/>
          </a:prstGeom>
          <a:solidFill>
            <a:srgbClr val="2AD8B9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PROJECT  ·  ACADEMIC YEAR 2025–26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Tracker
</a:t>
            </a:r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2AD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lectures. Measure progress. Study smarter.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661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P. Poddar Institute of Management &amp; Technology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 (PCC-CS494)  ·  CSE  ·  2nd Year, 4th Semester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" y="5138928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Rajdeep Dey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10712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5138928"/>
            <a:ext cx="566928" cy="56692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93592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Das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93592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11500124127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1344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5138928"/>
            <a:ext cx="566928" cy="5669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4224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Mondal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64224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11500124133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51976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25712" y="5138928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28" name="Text 26"/>
          <p:cNvSpPr/>
          <p:nvPr/>
        </p:nvSpPr>
        <p:spPr>
          <a:xfrm>
            <a:off x="9125712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34856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Agarwal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34856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11500124134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714500"/>
            <a:ext cx="502920" cy="502920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6" name="Text 4"/>
          <p:cNvSpPr/>
          <p:nvPr/>
        </p:nvSpPr>
        <p:spPr>
          <a:xfrm>
            <a:off x="891540" y="1714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0120" y="256032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4688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record &amp; visualise lecture completion across multiple subjects at once.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33756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2461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LMS platforms are built for institutions and do not integrate with YouTube playlists.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411480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0233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tracking is tedious, error-prone, and leads to duplicate counting.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489204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8006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combining content import, tracking, and analytics in one workspace.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566928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77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predict when a course will actually be finished at the current pace.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0820" y="1714500"/>
            <a:ext cx="502920" cy="502920"/>
          </a:xfrm>
          <a:prstGeom prst="ellipse">
            <a:avLst/>
          </a:prstGeom>
          <a:solidFill>
            <a:srgbClr val="123832"/>
          </a:solidFill>
          <a:ln/>
        </p:spPr>
      </p:sp>
      <p:sp>
        <p:nvSpPr>
          <p:cNvPr id="20" name="Text 18"/>
          <p:cNvSpPr/>
          <p:nvPr/>
        </p:nvSpPr>
        <p:spPr>
          <a:xfrm>
            <a:off x="6560820" y="1714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29400" y="2377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that gives self-paced learners a single workspace to import, track, plan, and visualise their YouTube-based learning journey.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24612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246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Auto-imports playlists, videos, shorts &amp; batch links with full metadata.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4032504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03250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frontend, Python FastAPI backend, MySQL relational store.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4818888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8188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Planner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re-balances daily schedules from hours/day or a target deadline.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5605272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56052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Prediction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completion trends and a velocity-based ETA for every subject.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Implemented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live in the current build. AI-powered features are planned next — see Future Enhancements.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1897380"/>
            <a:ext cx="502920" cy="50292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student profiles keep subjects, plans &amp; notes private.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3420" y="1897380"/>
            <a:ext cx="502920" cy="50292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12" name="Text 10"/>
          <p:cNvSpPr/>
          <p:nvPr/>
        </p:nvSpPr>
        <p:spPr>
          <a:xfrm>
            <a:off x="4503420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Management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3712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&amp; delete subjects with a centralised dashboard.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2460" y="1897380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8252460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1540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YouTube Import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2752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Playlists, videos, shorts &amp; batch links via YouTube Data API v3.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" y="3543300"/>
            <a:ext cx="502920" cy="50292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&amp; Progress Tracking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checklists, batch actions, live progress bars.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33756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3420" y="3543300"/>
            <a:ext cx="502920" cy="50292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27" name="Text 25"/>
          <p:cNvSpPr/>
          <p:nvPr/>
        </p:nvSpPr>
        <p:spPr>
          <a:xfrm>
            <a:off x="450342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53712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or balanced-load partitioning, with one-click Adjust Plan.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33756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2460" y="3543300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2" name="Text 30"/>
          <p:cNvSpPr/>
          <p:nvPr/>
        </p:nvSpPr>
        <p:spPr>
          <a:xfrm>
            <a:off x="825246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1540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UI Sync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02752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planner &amp; charts update instantly — no page reloads.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" y="5189220"/>
            <a:ext cx="502920" cy="50292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17320" y="5166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Goals To-Do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04672" y="5760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Micro-tasking list to add, edit, complete &amp; delete daily tasks.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49834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3420" y="5189220"/>
            <a:ext cx="502920" cy="50292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42" name="Text 40"/>
          <p:cNvSpPr/>
          <p:nvPr/>
        </p:nvSpPr>
        <p:spPr>
          <a:xfrm>
            <a:off x="4503420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66360" y="5166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Prediction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53712" y="5760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trends plus a velocity-based completion estimate.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49834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2460" y="5189220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47" name="Text 45"/>
          <p:cNvSpPr/>
          <p:nvPr/>
        </p:nvSpPr>
        <p:spPr>
          <a:xfrm>
            <a:off x="8252460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15400" y="5166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Player + Bookmarks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302752" y="5760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YouTube player with one-click timestamp pinning.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24328" cy="868680"/>
          </a:xfrm>
          <a:prstGeom prst="roundRect">
            <a:avLst>
              <a:gd name="adj" fmla="val 736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2704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82696" y="1417320"/>
            <a:ext cx="2624328" cy="868680"/>
          </a:xfrm>
          <a:prstGeom prst="roundRect">
            <a:avLst>
              <a:gd name="adj" fmla="val 736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2696" y="1417320"/>
            <a:ext cx="54864" cy="868680"/>
          </a:xfrm>
          <a:prstGeom prst="rect">
            <a:avLst/>
          </a:prstGeom>
          <a:solidFill>
            <a:srgbClr val="2AD8B9"/>
          </a:solidFill>
          <a:ln/>
        </p:spPr>
      </p:sp>
      <p:sp>
        <p:nvSpPr>
          <p:cNvPr id="10" name="Text 8"/>
          <p:cNvSpPr/>
          <p:nvPr/>
        </p:nvSpPr>
        <p:spPr>
          <a:xfrm>
            <a:off x="3511296" y="152704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11296" y="1801368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16752" y="1417320"/>
            <a:ext cx="2624328" cy="868680"/>
          </a:xfrm>
          <a:prstGeom prst="roundRect">
            <a:avLst>
              <a:gd name="adj" fmla="val 736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2" y="1417320"/>
            <a:ext cx="54864" cy="86868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152704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45352" y="1801368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+ SQLAlchemy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50808" y="1417320"/>
            <a:ext cx="2624328" cy="868680"/>
          </a:xfrm>
          <a:prstGeom prst="roundRect">
            <a:avLst>
              <a:gd name="adj" fmla="val 736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50808" y="1417320"/>
            <a:ext cx="54864" cy="868680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18" name="Text 16"/>
          <p:cNvSpPr/>
          <p:nvPr/>
        </p:nvSpPr>
        <p:spPr>
          <a:xfrm>
            <a:off x="8979408" y="152704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79408" y="1801368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IMPORT &amp; PROGRESS UPDATE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8008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7C6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448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9448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Pastes YouTube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URL(s) in React UI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09648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410816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2AD8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2256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02256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/api/playlist/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request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02456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03624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7C6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5064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95064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calls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PlaylistService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95264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432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2AD8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7872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87872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video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&amp; durations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88072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89240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7C6F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0680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180680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lectures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(duplicate-safe)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780880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82048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2AD8B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73488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073488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 with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FLOW — MARKING A LECTURE COMPLETE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7172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6900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Toggled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62860" y="4846320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72588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82316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/api/progress/{id}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48276" y="4846320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058004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7732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ProgressService validates (no duplicate)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33692" y="4846320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243420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53148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% → returns new state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319108" y="4846320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428836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38564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updates instantly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4864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quota: 10,000 units/day  ·  playlistItems fetched in pages of 50 via nextPageToken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1965960"/>
          </a:xfrm>
          <a:prstGeom prst="roundRect">
            <a:avLst>
              <a:gd name="adj" fmla="val 2791"/>
            </a:avLst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7C6FF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2331720" cy="201168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331720" cy="1965960"/>
          </a:xfrm>
          <a:prstGeom prst="roundRect">
            <a:avLst>
              <a:gd name="adj" fmla="val 2791"/>
            </a:avLst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AD8B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600200"/>
            <a:ext cx="2331720" cy="201168"/>
          </a:xfrm>
          <a:prstGeom prst="rect">
            <a:avLst/>
          </a:prstGeom>
          <a:solidFill>
            <a:srgbClr val="2AD8B9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6499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yt_playlist_id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417320"/>
            <a:ext cx="2331720" cy="2194560"/>
          </a:xfrm>
          <a:prstGeom prst="roundRect">
            <a:avLst>
              <a:gd name="adj" fmla="val 2500"/>
            </a:avLst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2B84B"/>
          </a:solidFill>
          <a:ln/>
        </p:spPr>
      </p:sp>
      <p:sp>
        <p:nvSpPr>
          <p:cNvPr id="22" name="Shape 20"/>
          <p:cNvSpPr/>
          <p:nvPr/>
        </p:nvSpPr>
        <p:spPr>
          <a:xfrm>
            <a:off x="5897880" y="1600200"/>
            <a:ext cx="2331720" cy="201168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6247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6247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6247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video_id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6247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62472" y="292608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95360" y="1417320"/>
            <a:ext cx="3063240" cy="2194560"/>
          </a:xfrm>
          <a:prstGeom prst="roundRect">
            <a:avLst>
              <a:gd name="adj" fmla="val 2500"/>
            </a:avLst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141732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7C6FF0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5360" y="1600200"/>
            <a:ext cx="3063240" cy="201168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32" name="Text 30"/>
          <p:cNvSpPr/>
          <p:nvPr/>
        </p:nvSpPr>
        <p:spPr>
          <a:xfrm>
            <a:off x="8732520" y="1417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59952" y="192024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59952" y="217170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59952" y="2423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59952" y="267462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completed_at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95360" y="3931920"/>
            <a:ext cx="3063240" cy="1691640"/>
          </a:xfrm>
          <a:prstGeom prst="roundRect">
            <a:avLst>
              <a:gd name="adj" fmla="val 3243"/>
            </a:avLst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393192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2AD8B9"/>
          </a:solidFill>
          <a:ln/>
        </p:spPr>
      </p:sp>
      <p:sp>
        <p:nvSpPr>
          <p:cNvPr id="39" name="Shape 37"/>
          <p:cNvSpPr/>
          <p:nvPr/>
        </p:nvSpPr>
        <p:spPr>
          <a:xfrm>
            <a:off x="8595360" y="4114800"/>
            <a:ext cx="3063240" cy="201168"/>
          </a:xfrm>
          <a:prstGeom prst="rect">
            <a:avLst/>
          </a:prstGeom>
          <a:solidFill>
            <a:srgbClr val="2AD8B9"/>
          </a:solidFill>
          <a:ln/>
        </p:spPr>
      </p:sp>
      <p:sp>
        <p:nvSpPr>
          <p:cNvPr id="40" name="Text 38"/>
          <p:cNvSpPr/>
          <p:nvPr/>
        </p:nvSpPr>
        <p:spPr>
          <a:xfrm>
            <a:off x="8732520" y="3931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759952" y="443484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59952" y="468630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lecture_id (FK)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59952" y="49377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timestamp_sec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759952" y="518922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237744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532120" y="237744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8229600" y="246888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122408" y="3611880"/>
            <a:ext cx="9144" cy="320040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H="1">
            <a:off x="7315200" y="4754880"/>
            <a:ext cx="12801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7315200" y="2377440"/>
            <a:ext cx="9144" cy="2377440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02920" y="3931920"/>
            <a:ext cx="7863840" cy="1691640"/>
          </a:xfrm>
          <a:prstGeom prst="roundRect">
            <a:avLst>
              <a:gd name="adj" fmla="val 4324"/>
            </a:avLst>
          </a:prstGeom>
          <a:solidFill>
            <a:srgbClr val="1B24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Integrity Constraints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77240" y="4517136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" y="44348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(playlist_id, video_id) on lectures — blocks a playlist import from inserting the same video twice.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77240" y="4901184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" y="48188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(user_id, lecture_id) on progress — the primary guard against duplicate completion records.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77240" y="5285232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8" name="Text 56"/>
          <p:cNvSpPr/>
          <p:nvPr/>
        </p:nvSpPr>
        <p:spPr>
          <a:xfrm>
            <a:off x="960120" y="520293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cascade subjects → playlists → lectures → progress, enforcing referential integrity at the storage layer.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5528" y="2514600"/>
            <a:ext cx="512064" cy="512064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3026664"/>
            <a:ext cx="914" cy="6858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46120"/>
            <a:ext cx="640080" cy="91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95528" y="3712464"/>
            <a:ext cx="256032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3712464"/>
            <a:ext cx="256032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31720" y="1371600"/>
            <a:ext cx="9326880" cy="5029200"/>
          </a:xfrm>
          <a:prstGeom prst="roundRect">
            <a:avLst>
              <a:gd name="adj" fmla="val 1455"/>
            </a:avLst>
          </a:prstGeom>
          <a:ln w="19050">
            <a:solidFill>
              <a:srgbClr val="2A335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331720" y="12344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TRACKER SYSTEM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1371600" cy="-112014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Subjects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YouTube Playlist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Lecture Progress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3291840"/>
            <a:ext cx="1371600" cy="-2286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Study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Schedule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&amp; ETA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3291840"/>
            <a:ext cx="1371600" cy="107442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Daily Goals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9536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508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Lecture Moments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1018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1B244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22860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90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StudyTrack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3911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7C6FF0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391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Subject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SUBJECTS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6032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LECTURES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9748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29768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3484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D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141B33"/>
          </a:solidFill>
          <a:ln w="12700">
            <a:solidFill>
              <a:srgbClr val="7C6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160520"/>
            <a:ext cx="2139696" cy="91440"/>
          </a:xfrm>
          <a:prstGeom prst="roundRect">
            <a:avLst>
              <a:gd name="adj" fmla="val 50000"/>
            </a:avLst>
          </a:prstGeom>
          <a:solidFill>
            <a:srgbClr val="2A3352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4160520"/>
            <a:ext cx="252704" cy="91440"/>
          </a:xfrm>
          <a:prstGeom prst="roundRect">
            <a:avLst>
              <a:gd name="adj" fmla="val 50000"/>
            </a:avLst>
          </a:prstGeom>
          <a:solidFill>
            <a:srgbClr val="7C6FF0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343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150 lectures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352044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141B33"/>
          </a:solidFill>
          <a:ln w="12700">
            <a:solidFill>
              <a:srgbClr val="2AD8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593592" y="4160520"/>
            <a:ext cx="2139696" cy="91440"/>
          </a:xfrm>
          <a:prstGeom prst="roundRect">
            <a:avLst>
              <a:gd name="adj" fmla="val 50000"/>
            </a:avLst>
          </a:prstGeom>
          <a:solidFill>
            <a:srgbClr val="2A3352"/>
          </a:solidFill>
          <a:ln/>
        </p:spPr>
      </p:sp>
      <p:sp>
        <p:nvSpPr>
          <p:cNvPr id="29" name="Shape 27"/>
          <p:cNvSpPr/>
          <p:nvPr/>
        </p:nvSpPr>
        <p:spPr>
          <a:xfrm>
            <a:off x="3593592" y="4160520"/>
            <a:ext cx="252704" cy="91440"/>
          </a:xfrm>
          <a:prstGeom prst="roundRect">
            <a:avLst>
              <a:gd name="adj" fmla="val 50000"/>
            </a:avLst>
          </a:prstGeom>
          <a:solidFill>
            <a:srgbClr val="2AD8B9"/>
          </a:solidFill>
          <a:ln/>
        </p:spPr>
      </p:sp>
      <p:sp>
        <p:nvSpPr>
          <p:cNvPr id="30" name="Text 28"/>
          <p:cNvSpPr/>
          <p:nvPr/>
        </p:nvSpPr>
        <p:spPr>
          <a:xfrm>
            <a:off x="3593592" y="4343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173 lectures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Study Plan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5394960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" y="5477256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53949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Language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5779008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6" name="Shape 34"/>
          <p:cNvSpPr/>
          <p:nvPr/>
        </p:nvSpPr>
        <p:spPr>
          <a:xfrm>
            <a:off x="932688" y="5861304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57790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High Level Languages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2960" y="6163056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9" name="Shape 37"/>
          <p:cNvSpPr/>
          <p:nvPr/>
        </p:nvSpPr>
        <p:spPr>
          <a:xfrm>
            <a:off x="932688" y="6245352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70432" y="616305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Translators &amp; Compilers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64282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subject-wise progress at a glance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63640" y="141732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1018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14173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B2440"/>
          </a:solidFill>
          <a:ln/>
        </p:spPr>
      </p:sp>
      <p:sp>
        <p:nvSpPr>
          <p:cNvPr id="44" name="Shape 42"/>
          <p:cNvSpPr/>
          <p:nvPr/>
        </p:nvSpPr>
        <p:spPr>
          <a:xfrm>
            <a:off x="6263640" y="1645920"/>
            <a:ext cx="5394960" cy="22860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1490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Study Plan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424160" y="15087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A2233"/>
          </a:solidFill>
          <a:ln/>
        </p:spPr>
      </p:sp>
      <p:sp>
        <p:nvSpPr>
          <p:cNvPr id="47" name="Text 45"/>
          <p:cNvSpPr/>
          <p:nvPr/>
        </p:nvSpPr>
        <p:spPr>
          <a:xfrm>
            <a:off x="1042416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Plan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92240" y="2039112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251A2A"/>
          </a:solidFill>
          <a:ln w="12700">
            <a:solidFill>
              <a:srgbClr val="F070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20391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You are behind schedule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Deviation: 77 minutes  ·  Estimated completion: May 24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92240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Breakdown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92240" y="3200400"/>
            <a:ext cx="4937760" cy="1261872"/>
          </a:xfrm>
          <a:prstGeom prst="roundRect">
            <a:avLst>
              <a:gd name="adj" fmla="val 3623"/>
            </a:avLst>
          </a:prstGeom>
          <a:solidFill>
            <a:srgbClr val="141B33"/>
          </a:solidFill>
          <a:ln/>
        </p:spPr>
      </p:sp>
      <p:sp>
        <p:nvSpPr>
          <p:cNvPr id="52" name="Text 50"/>
          <p:cNvSpPr/>
          <p:nvPr/>
        </p:nvSpPr>
        <p:spPr>
          <a:xfrm>
            <a:off x="6647688" y="3273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561320" y="3273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17m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0" y="35295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Introduction to C Language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66560" y="38039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Low vs High Level Languages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66560" y="40782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Language Translators | Compiler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92240" y="4590288"/>
            <a:ext cx="4937760" cy="1261872"/>
          </a:xfrm>
          <a:prstGeom prst="roundRect">
            <a:avLst>
              <a:gd name="adj" fmla="val 3623"/>
            </a:avLst>
          </a:prstGeom>
          <a:solidFill>
            <a:srgbClr val="141B33"/>
          </a:solidFill>
          <a:ln/>
        </p:spPr>
      </p:sp>
      <p:sp>
        <p:nvSpPr>
          <p:cNvPr id="58" name="Text 56"/>
          <p:cNvSpPr/>
          <p:nvPr/>
        </p:nvSpPr>
        <p:spPr>
          <a:xfrm>
            <a:off x="6647688" y="4663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561320" y="4663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25m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66560" y="49194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Constants in C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66560" y="51937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Variables in C Programming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766560" y="5468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Keywords and Identifiers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63640" y="6428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Planner — deviation tracking &amp; per-day breakdown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789920" cy="731520"/>
          </a:xfrm>
          <a:prstGeom prst="roundRect">
            <a:avLst>
              <a:gd name="adj" fmla="val 10000"/>
            </a:avLst>
          </a:prstGeom>
          <a:solidFill>
            <a:srgbClr val="2A2411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3A32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234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Assistant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planned next, powered by Gemini/LLM integration: instant AI-generated notes &amp; summaries, and an interactive AI Subject Chat for concept clarification.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2359152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3134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Quizzes &amp; Flashcards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86384" y="2880360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MCQs &amp; flashcards from lectures; add Spaced Repetition (SRS) reviews.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215384" y="214884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359152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38344" y="23134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Focus / Pomodoro Timer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453128" y="2880360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actual study hours vs. estimates for deeper productivity insights.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882128" y="214884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2359152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05088" y="23134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Integrations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8119872" y="2880360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Coursera, Udemy, PDFs &amp; slide decks with OCR summarisation.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48640" y="3712464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" y="3922776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387705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786384" y="4443984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XP, badges &amp; levels; shareable public plans and Study Rooms.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215384" y="3712464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5696" y="3922776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0" name="Text 28"/>
          <p:cNvSpPr/>
          <p:nvPr/>
        </p:nvSpPr>
        <p:spPr>
          <a:xfrm>
            <a:off x="4425696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38344" y="387705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Mobile Support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4453128" y="4443984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mobile-friendly app with local push notifications.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882128" y="3712464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3922776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705088" y="387705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Adaptive Scheduling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8119872" y="4443984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Auto-prioritise weak subjects based on low completion velocity.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48640" y="5276088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" y="5486400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371600" y="5440680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Sync</a:t>
            </a:r>
            <a:endParaRPr lang="en-US" sz="1180" dirty="0"/>
          </a:p>
        </p:txBody>
      </p:sp>
      <p:sp>
        <p:nvSpPr>
          <p:cNvPr id="42" name="Text 40"/>
          <p:cNvSpPr/>
          <p:nvPr/>
        </p:nvSpPr>
        <p:spPr>
          <a:xfrm>
            <a:off x="786384" y="6007608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generated study schedule directly onto the user's calendar.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2026-07-16T20:09:04Z</dcterms:created>
  <dcterms:modified xsi:type="dcterms:W3CDTF">2026-07-16T20:09:04Z</dcterms:modified>
</cp:coreProperties>
</file>