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D54F"/>
                </a:solidFill>
                <a:latin typeface="Calibri"/>
              </a:defRPr>
            </a:pPr>
            <a:r>
              <a:t>STUDY TRACKER</a:t>
            </a:r>
          </a:p>
          <a:p>
            <a:pPr algn="l">
              <a:spcBef>
                <a:spcPts val="12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Core System Logics, Adaptive Algorithms &amp; Interactive Features</a:t>
            </a:r>
          </a:p>
          <a:p>
            <a:pPr algn="l">
              <a:spcBef>
                <a:spcPts val="3600"/>
              </a:spcBef>
              <a:defRPr sz="1400">
                <a:solidFill>
                  <a:srgbClr val="AAAAAA"/>
                </a:solidFill>
                <a:latin typeface="Calibri"/>
              </a:defRPr>
            </a:pPr>
            <a:r>
              <a:t>Technical Presentation | Study Tracker App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1. Core 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Backend Services (FastAPI + SQLAlchemy): </a:t>
            </a:r>
            <a:r>
              <a:rPr sz="1600" b="0">
                <a:solidFill>
                  <a:srgbClr val="FFFFFF"/>
                </a:solidFill>
                <a:latin typeface="Calibri"/>
              </a:rPr>
              <a:t>Asynchronous, high-performance API endpoints serving plans, progress chart snapshots, daily goals, and YouTube operations.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Frontend Application (React + Recharts): </a:t>
            </a:r>
            <a:r>
              <a:rPr sz="1600" b="0">
                <a:solidFill>
                  <a:srgbClr val="FFFFFF"/>
                </a:solidFill>
                <a:latin typeface="Calibri"/>
              </a:rPr>
              <a:t>A highly interactive, zero-reload single page interface with dynamic state caching and a custom hand-drawn sketch layout.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Database Engine (MySQL): </a:t>
            </a:r>
            <a:r>
              <a:rPr sz="1600" b="0">
                <a:solidFill>
                  <a:srgbClr val="FFFFFF"/>
                </a:solidFill>
                <a:latin typeface="Calibri"/>
              </a:rPr>
              <a:t>Persistent relational schema tracking course enrollment, individual video completion states, progress snapshots, and calendar days.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AI Operations (Google Gemini API): </a:t>
            </a:r>
            <a:r>
              <a:rPr sz="1600" b="0">
                <a:solidFill>
                  <a:srgbClr val="FFFFFF"/>
                </a:solidFill>
                <a:latin typeface="Calibri"/>
              </a:rPr>
              <a:t>Leverages standard `gemini-1.5-flash` model for contextual chat tutoring, automated note taking, and practice Q&amp;As based on course transcripts.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2. Flexible YouTube Importing &amp; Metadata Parsing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Multi-Format Tokenizer: </a:t>
            </a:r>
            <a:r>
              <a:rPr sz="1600" b="0">
                <a:solidFill>
                  <a:srgbClr val="FFFFFF"/>
                </a:solidFill>
                <a:latin typeface="Calibri"/>
              </a:rPr>
              <a:t>Automatically splits user inputs by commas, spaces, or newlines, running regex checks to extract playlist IDs, single video IDs, shorts, or standard URLs in one batch.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Recursion &amp; Pagination: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Queries YouTube's `playlistItems` API recursively using page tokens to ingest lists of any size, handling up to thousands of videos.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Batch Duration Loader: </a:t>
            </a:r>
            <a:r>
              <a:rPr sz="1600" b="0">
                <a:solidFill>
                  <a:srgbClr val="FFFFFF"/>
                </a:solidFill>
                <a:latin typeface="Calibri"/>
              </a:rPr>
              <a:t>To avoid exceeding API limits, gathers all video IDs and queries the YouTube `/videos` API in chunks of 50 to resolve durations in a single roundtrip.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ISO-8601 Duration Parser: </a:t>
            </a:r>
            <a:r>
              <a:rPr sz="1600" b="0">
                <a:solidFill>
                  <a:srgbClr val="FFFFFF"/>
                </a:solidFill>
                <a:latin typeface="Calibri"/>
              </a:rPr>
              <a:t>Parses formats like `PT1H23M45S` into total integers of seconds using specialized regex capture groups for clean calculations.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3. Day Partitioning &amp; Load Balancing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 b="1">
                <a:solidFill>
                  <a:srgbClr val="F06292"/>
                </a:solidFill>
                <a:latin typeface="Calibri"/>
              </a:defRPr>
            </a:pPr>
            <a:r>
              <a:t>• Greedy Packing (Hours/Day Constraint): </a:t>
            </a:r>
            <a:r>
              <a:rPr sz="1600" b="0">
                <a:solidFill>
                  <a:srgbClr val="FFFFFF"/>
                </a:solidFill>
                <a:latin typeface="Calibri"/>
              </a:rPr>
              <a:t>Sequentially packs lecture durations into Day 1. If adding the next lecture exceeds the target daily limit, the day is sealed and a new day is initialized.</a:t>
            </a:r>
          </a:p>
          <a:p>
            <a:pPr>
              <a:spcAft>
                <a:spcPts val="2000"/>
              </a:spcAft>
              <a:defRPr sz="1800" b="1">
                <a:solidFill>
                  <a:srgbClr val="F06292"/>
                </a:solidFill>
                <a:latin typeface="Calibri"/>
              </a:defRPr>
            </a:pPr>
            <a:r>
              <a:t>• Balanced Load Partitioning (Days Count Constraint): </a:t>
            </a:r>
            <a:r>
              <a:rPr sz="1600" b="0">
                <a:solidFill>
                  <a:srgbClr val="FFFFFF"/>
                </a:solidFill>
                <a:latin typeface="Calibri"/>
              </a:rPr>
              <a:t>Distributes all lectures over a target number of days ($D$) to minimize daily workload imbalances. It calculates the cumulative durations sum, divides it by $D$, and finds the closest partition lines mathematically.</a:t>
            </a:r>
          </a:p>
          <a:p>
            <a:pPr>
              <a:spcAft>
                <a:spcPts val="2000"/>
              </a:spcAft>
              <a:defRPr sz="1800" b="1">
                <a:solidFill>
                  <a:srgbClr val="F06292"/>
                </a:solidFill>
                <a:latin typeface="Calibri"/>
              </a:defRPr>
            </a:pPr>
            <a:r>
              <a:t>• Real-time Plan Regeneration: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Regenerates all database day allocations instantly when target parameters or available hours are changed, updating the calendar grid.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4. Chronological Alignment &amp; Adaptive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Alignment with Subject Creation: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Instead of starting fresh on Day 1 today, the plan start date is locked to the Subject Creation Date (e.g. July 11th). This maps past days naturally.</a:t>
            </a:r>
          </a:p>
          <a:p>
            <a:pPr>
              <a:spcAft>
                <a:spcPts val="16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Chrono-Sorting Completed vs Uncompleted: </a:t>
            </a:r>
            <a:r>
              <a:rPr sz="1600" b="0">
                <a:solidFill>
                  <a:srgbClr val="FFFFFF"/>
                </a:solidFill>
                <a:latin typeface="Calibri"/>
              </a:rPr>
              <a:t>When partitioning, already-completed lectures are automatically grouped and distributed in the past days (Day 1 to Yesterday).</a:t>
            </a:r>
          </a:p>
          <a:p>
            <a:pPr>
              <a:spcAft>
                <a:spcPts val="16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Today's Study Assignment: </a:t>
            </a:r>
            <a:r>
              <a:rPr sz="1600" b="0">
                <a:solidFill>
                  <a:srgbClr val="FFFFFF"/>
                </a:solidFill>
                <a:latin typeface="Calibri"/>
              </a:rPr>
              <a:t>Uncompleted lectures are partitioned starting from Today's calendar day onwards, ensuring the user immediately sees the correct next task.</a:t>
            </a:r>
          </a:p>
          <a:p>
            <a:pPr>
              <a:spcAft>
                <a:spcPts val="16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Dynamic 'Adjust Schedule' Action: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Recalculates the remaining days of the study plan, keeping completed tasks in the past and distributing only the remaining uncompleted load over future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5. Completion Estimation Models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FD54F"/>
                </a:solidFill>
                <a:latin typeface="Calibri"/>
              </a:defRPr>
            </a:pPr>
            <a:r>
              <a:t>Model A: Study Planner (Time-Based)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Focuses on total hours/duration of videos.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Calculates study speed in seconds/day: Actual completed duration divided by days since plan start.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Divides remaining video duration (hours) by this daily velocity to find remaining days.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Best for estimating based on remaining video load.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06292"/>
                </a:solidFill>
                <a:latin typeface="Calibri"/>
              </a:defRPr>
            </a:pPr>
            <a:r>
              <a:t>Model B: Progress Chart (Percentage-Based)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Focuses on completed lecture counts (%).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Calculates daily progress velocity over the last 7 days of completion snapshots.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Divides remaining progress percentage (100% - current%) by daily percentage velocity.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• Best for estimating based on historical daily consistency.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6. Embedded YouTube Player &amp; Bookmark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YouTube Iframe API Integration: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Binds a standard iframe with `enablejsapi=1` to the official SDK, capturing full playback control without third-party wrapper overhead.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One-Click Timestamp Capturing: </a:t>
            </a:r>
            <a:r>
              <a:rPr sz="1600" b="0">
                <a:solidFill>
                  <a:srgbClr val="FFFFFF"/>
                </a:solidFill>
                <a:latin typeface="Calibri"/>
              </a:rPr>
              <a:t>When the user adds a note, the system queries the player in real-time (`player.getCurrentTime()`) and pins the note to that exact timestamp.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Instant Player Seeking: </a:t>
            </a:r>
            <a:r>
              <a:rPr sz="1600" b="0">
                <a:solidFill>
                  <a:srgbClr val="FFFFFF"/>
                </a:solidFill>
                <a:latin typeface="Calibri"/>
              </a:rPr>
              <a:t>Clicking a saved bookmark button triggers `player.seekTo(seconds, True)` to jump the video directly to the pinned moment smoothly.</a:t>
            </a:r>
          </a:p>
          <a:p>
            <a:pPr>
              <a:spcAft>
                <a:spcPts val="2000"/>
              </a:spcAft>
              <a:defRPr sz="1800" b="1">
                <a:solidFill>
                  <a:srgbClr val="FFD54F"/>
                </a:solidFill>
                <a:latin typeface="Calibri"/>
              </a:defRPr>
            </a:pPr>
            <a:r>
              <a:t>• Relational Storage &amp; Security: </a:t>
            </a:r>
            <a:r>
              <a:rPr sz="1600" b="0">
                <a:solidFill>
                  <a:srgbClr val="FFFFFF"/>
                </a:solidFill>
                <a:latin typeface="Calibri"/>
              </a:rPr>
              <a:t>Bookmarks are saved in the `lecture_bookmarks` table and secured via owner-verification logic in the backend router.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D54F"/>
                </a:solidFill>
                <a:latin typeface="Calibri"/>
              </a:defRPr>
            </a:pPr>
            <a:r>
              <a:t>7. AI Tutor Integration &amp; Token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Contextual AI Chat: </a:t>
            </a:r>
            <a:r>
              <a:rPr sz="1600" b="0">
                <a:solidFill>
                  <a:srgbClr val="FFFFFF"/>
                </a:solidFill>
                <a:latin typeface="Calibri"/>
              </a:rPr>
              <a:t>Initializes Gemini with system instructions that lock the model's knowledge context strictly to the subject's video transcripts.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Multi-Prompt Note Generator: </a:t>
            </a:r>
            <a:r>
              <a:rPr sz="1600" b="0">
                <a:solidFill>
                  <a:srgbClr val="FFFFFF"/>
                </a:solidFill>
                <a:latin typeface="Calibri"/>
              </a:rPr>
              <a:t>Generates tailored Study Materials (Comprehensive Notes, Cheat Sheets, or Q&amp;A Question Sets) directly from transcript assets.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Free-Tier Token Guardrail: </a:t>
            </a:r>
            <a:r>
              <a:rPr sz="1600" b="0">
                <a:solidFill>
                  <a:srgbClr val="FFFFFF"/>
                </a:solidFill>
                <a:latin typeface="Calibri"/>
              </a:rPr>
              <a:t>Scans transcript sizes and truncates content if they exceed ~100k tokens to guarantee zero 429 Rate Limit blockages from Google AI Studio.</a:t>
            </a:r>
          </a:p>
          <a:p>
            <a:pPr>
              <a:spcAft>
                <a:spcPts val="2000"/>
              </a:spcAft>
              <a:defRPr sz="1800" b="1">
                <a:solidFill>
                  <a:srgbClr val="4FC3F7"/>
                </a:solidFill>
                <a:latin typeface="Calibri"/>
              </a:defRPr>
            </a:pPr>
            <a:r>
              <a:t>• Real-time State Synchronization: </a:t>
            </a:r>
            <a:r>
              <a:rPr sz="1600" b="0">
                <a:solidFill>
                  <a:srgbClr val="FFFFFF"/>
                </a:solidFill>
                <a:latin typeface="Calibri"/>
              </a:rPr>
              <a:t>Subjects, progress charts, and daily planner widgets update instantly upon playlist imports or checkbox checks with zero manual page refreshes.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