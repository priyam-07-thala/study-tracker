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84984" autoAdjust="0"/>
  </p:normalViewPr>
  <p:slideViewPr>
    <p:cSldViewPr snapToGrid="0" snapToObjects="1">
      <p:cViewPr>
        <p:scale>
          <a:sx n="74" d="100"/>
          <a:sy n="74" d="100"/>
        </p:scale>
        <p:origin x="811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2467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188720"/>
            <a:ext cx="4206240" cy="4206240"/>
          </a:xfrm>
          <a:prstGeom prst="ellipse">
            <a:avLst/>
          </a:prstGeom>
          <a:solidFill>
            <a:srgbClr val="7C6FF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65760"/>
            <a:ext cx="2377440" cy="2377440"/>
          </a:xfrm>
          <a:prstGeom prst="ellipse">
            <a:avLst/>
          </a:prstGeom>
          <a:solidFill>
            <a:srgbClr val="2AD8B9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052560" y="4206240"/>
            <a:ext cx="1280160" cy="1280160"/>
          </a:xfrm>
          <a:prstGeom prst="ellipse">
            <a:avLst/>
          </a:prstGeom>
          <a:solidFill>
            <a:srgbClr val="2AD8B9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PROJECT  ·  ACADEMIC YEAR 2025–26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Tracker
</a:t>
            </a:r>
            <a:r>
              <a:rPr lang="en-US" sz="5000" b="1" dirty="0">
                <a:solidFill>
                  <a:srgbClr val="2AD8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lectures. Measure progress. Study smarter.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6949440" cy="960120"/>
          </a:xfrm>
          <a:prstGeom prst="roundRect">
            <a:avLst>
              <a:gd name="adj" fmla="val 7619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56616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P. Poddar Institute of Management &amp; Technology
</a:t>
            </a:r>
            <a:r>
              <a:rPr lang="en-US" sz="11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 (PCC-CS494)  ·  CSE  ·  2nd Year, 4th Semester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98348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" y="5138928"/>
            <a:ext cx="566928" cy="566928"/>
          </a:xfrm>
          <a:prstGeom prst="ellipse">
            <a:avLst/>
          </a:prstGeom>
          <a:solidFill>
            <a:srgbClr val="7C6FF0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" y="5138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573328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Rajdeep Dey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597103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11500124125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10712" y="498348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84448" y="5138928"/>
            <a:ext cx="566928" cy="566928"/>
          </a:xfrm>
          <a:prstGeom prst="ellipse">
            <a:avLst/>
          </a:prstGeom>
          <a:solidFill>
            <a:srgbClr val="2AD8B9"/>
          </a:solidFill>
          <a:ln/>
        </p:spPr>
      </p:sp>
      <p:sp>
        <p:nvSpPr>
          <p:cNvPr id="18" name="Text 16"/>
          <p:cNvSpPr/>
          <p:nvPr/>
        </p:nvSpPr>
        <p:spPr>
          <a:xfrm>
            <a:off x="3584448" y="5138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93592" y="573328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Das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593592" y="597103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11500124127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81344" y="498348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5138928"/>
            <a:ext cx="566928" cy="566928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5138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64224" y="573328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Priyam Mondal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364224" y="597103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11500124133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951976" y="498348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25712" y="5138928"/>
            <a:ext cx="566928" cy="566928"/>
          </a:xfrm>
          <a:prstGeom prst="ellipse">
            <a:avLst/>
          </a:prstGeom>
          <a:solidFill>
            <a:srgbClr val="7C6FF0"/>
          </a:solidFill>
          <a:ln/>
        </p:spPr>
      </p:sp>
      <p:sp>
        <p:nvSpPr>
          <p:cNvPr id="28" name="Text 26"/>
          <p:cNvSpPr/>
          <p:nvPr/>
        </p:nvSpPr>
        <p:spPr>
          <a:xfrm>
            <a:off x="9125712" y="5138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34856" y="573328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Priyanshi Agarwal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134856" y="597103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11500124134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&amp; Our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4892040"/>
          </a:xfrm>
          <a:prstGeom prst="roundRect">
            <a:avLst>
              <a:gd name="adj" fmla="val 1869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1540" y="1714500"/>
            <a:ext cx="502920" cy="502920"/>
          </a:xfrm>
          <a:prstGeom prst="ellipse">
            <a:avLst/>
          </a:prstGeom>
          <a:solidFill>
            <a:srgbClr val="3A2233"/>
          </a:solidFill>
          <a:ln/>
        </p:spPr>
      </p:sp>
      <p:sp>
        <p:nvSpPr>
          <p:cNvPr id="6" name="Text 4"/>
          <p:cNvSpPr/>
          <p:nvPr/>
        </p:nvSpPr>
        <p:spPr>
          <a:xfrm>
            <a:off x="891540" y="17145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7099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60120" y="2560320"/>
            <a:ext cx="82296" cy="82296"/>
          </a:xfrm>
          <a:prstGeom prst="ellipse">
            <a:avLst/>
          </a:prstGeom>
          <a:solidFill>
            <a:srgbClr val="F0708A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46888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way to record &amp; visualise lecture completion across multiple subjects at once.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60120" y="3337560"/>
            <a:ext cx="82296" cy="82296"/>
          </a:xfrm>
          <a:prstGeom prst="ellipse">
            <a:avLst/>
          </a:prstGeom>
          <a:solidFill>
            <a:srgbClr val="F0708A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24612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LMS platforms are built for institutions and do not integrate with YouTube playlists.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60120" y="4114800"/>
            <a:ext cx="82296" cy="82296"/>
          </a:xfrm>
          <a:prstGeom prst="ellipse">
            <a:avLst/>
          </a:prstGeom>
          <a:solidFill>
            <a:srgbClr val="F0708A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02336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spreadsheet tracking is tedious, error-prone, and leads to duplicate counting.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60120" y="4892040"/>
            <a:ext cx="82296" cy="82296"/>
          </a:xfrm>
          <a:prstGeom prst="ellipse">
            <a:avLst/>
          </a:prstGeom>
          <a:solidFill>
            <a:srgbClr val="F0708A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480060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view combining content import, tracking, and analytics in one workspace.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60120" y="5669280"/>
            <a:ext cx="82296" cy="82296"/>
          </a:xfrm>
          <a:prstGeom prst="ellipse">
            <a:avLst/>
          </a:prstGeom>
          <a:solidFill>
            <a:srgbClr val="F0708A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557784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reliable way to predict when a course will actually be finished at the current pace.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1417320"/>
            <a:ext cx="5394960" cy="4892040"/>
          </a:xfrm>
          <a:prstGeom prst="roundRect">
            <a:avLst>
              <a:gd name="adj" fmla="val 1869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60820" y="1714500"/>
            <a:ext cx="502920" cy="502920"/>
          </a:xfrm>
          <a:prstGeom prst="ellipse">
            <a:avLst/>
          </a:prstGeom>
          <a:solidFill>
            <a:srgbClr val="123832"/>
          </a:solidFill>
          <a:ln/>
        </p:spPr>
      </p:sp>
      <p:sp>
        <p:nvSpPr>
          <p:cNvPr id="20" name="Text 18"/>
          <p:cNvSpPr/>
          <p:nvPr/>
        </p:nvSpPr>
        <p:spPr>
          <a:xfrm>
            <a:off x="6560820" y="17145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178040" y="17099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629400" y="23774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web application that gives self-paced learners a single workspace to import, track, plan, and visualise their YouTube-based learning journey.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29400" y="3246120"/>
            <a:ext cx="4572000" cy="685800"/>
          </a:xfrm>
          <a:prstGeom prst="roundRect">
            <a:avLst>
              <a:gd name="adj" fmla="val 8000"/>
            </a:avLst>
          </a:prstGeom>
          <a:solidFill>
            <a:srgbClr val="1B2440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32461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Data API v3
</a:t>
            </a:r>
            <a:r>
              <a:rPr lang="en-US" sz="11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Auto-imports playlists, videos, shorts &amp; batch links with full metadata.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29400" y="4032504"/>
            <a:ext cx="4572000" cy="685800"/>
          </a:xfrm>
          <a:prstGeom prst="roundRect">
            <a:avLst>
              <a:gd name="adj" fmla="val 8000"/>
            </a:avLst>
          </a:prstGeom>
          <a:solidFill>
            <a:srgbClr val="1B2440"/>
          </a:solidFill>
          <a:ln/>
        </p:spPr>
      </p:sp>
      <p:sp>
        <p:nvSpPr>
          <p:cNvPr id="26" name="Text 24"/>
          <p:cNvSpPr/>
          <p:nvPr/>
        </p:nvSpPr>
        <p:spPr>
          <a:xfrm>
            <a:off x="6812280" y="4032504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
</a:t>
            </a:r>
            <a:r>
              <a:rPr lang="en-US" sz="11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 frontend, Python FastAPI backend, MySQL relational store.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29400" y="4818888"/>
            <a:ext cx="4572000" cy="685800"/>
          </a:xfrm>
          <a:prstGeom prst="roundRect">
            <a:avLst>
              <a:gd name="adj" fmla="val 8000"/>
            </a:avLst>
          </a:prstGeom>
          <a:solidFill>
            <a:srgbClr val="1B2440"/>
          </a:solidFill>
          <a:ln/>
        </p:spPr>
      </p:sp>
      <p:sp>
        <p:nvSpPr>
          <p:cNvPr id="28" name="Text 26"/>
          <p:cNvSpPr/>
          <p:nvPr/>
        </p:nvSpPr>
        <p:spPr>
          <a:xfrm>
            <a:off x="6812280" y="481888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Study Planner
</a:t>
            </a:r>
            <a:r>
              <a:rPr lang="en-US" sz="11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&amp; re-balances daily schedules from hours/day or a target deadline.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29400" y="5605272"/>
            <a:ext cx="4572000" cy="685800"/>
          </a:xfrm>
          <a:prstGeom prst="roundRect">
            <a:avLst>
              <a:gd name="adj" fmla="val 8000"/>
            </a:avLst>
          </a:prstGeom>
          <a:solidFill>
            <a:srgbClr val="1B2440"/>
          </a:solidFill>
          <a:ln/>
        </p:spPr>
      </p:sp>
      <p:sp>
        <p:nvSpPr>
          <p:cNvPr id="30" name="Text 28"/>
          <p:cNvSpPr/>
          <p:nvPr/>
        </p:nvSpPr>
        <p:spPr>
          <a:xfrm>
            <a:off x="6812280" y="5605272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Prediction
</a:t>
            </a:r>
            <a:r>
              <a:rPr lang="en-US" sz="11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completion trends and a velocity-based ETA for every subject.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Implemented Today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below is live in the current build. AI-powered features are planned next — see Future Enhancements.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4380" y="1897380"/>
            <a:ext cx="502920" cy="502920"/>
          </a:xfrm>
          <a:prstGeom prst="ellipse">
            <a:avLst/>
          </a:prstGeom>
          <a:solidFill>
            <a:srgbClr val="7C6FF0"/>
          </a:solidFill>
          <a:ln/>
        </p:spPr>
      </p:sp>
      <p:sp>
        <p:nvSpPr>
          <p:cNvPr id="7" name="Text 5"/>
          <p:cNvSpPr/>
          <p:nvPr/>
        </p:nvSpPr>
        <p:spPr>
          <a:xfrm>
            <a:off x="754380" y="18973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874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User Auth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2468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student profiles keep subjects, plans &amp; notes private.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03420" y="1897380"/>
            <a:ext cx="502920" cy="502920"/>
          </a:xfrm>
          <a:prstGeom prst="ellipse">
            <a:avLst/>
          </a:prstGeom>
          <a:solidFill>
            <a:srgbClr val="2AD8B9"/>
          </a:solidFill>
          <a:ln/>
        </p:spPr>
      </p:sp>
      <p:sp>
        <p:nvSpPr>
          <p:cNvPr id="12" name="Text 10"/>
          <p:cNvSpPr/>
          <p:nvPr/>
        </p:nvSpPr>
        <p:spPr>
          <a:xfrm>
            <a:off x="4503420" y="18973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66360" y="1874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Management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53712" y="2468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 &amp; delete subjects with a centralised dashboard.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0" y="1691640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52460" y="1897380"/>
            <a:ext cx="502920" cy="50292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7" name="Text 15"/>
          <p:cNvSpPr/>
          <p:nvPr/>
        </p:nvSpPr>
        <p:spPr>
          <a:xfrm>
            <a:off x="8252460" y="18973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15400" y="1874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YouTube Import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02752" y="2468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Playlists, videos, shorts &amp; batch links via YouTube Data API v3.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337560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4380" y="3543300"/>
            <a:ext cx="502920" cy="502920"/>
          </a:xfrm>
          <a:prstGeom prst="ellipse">
            <a:avLst/>
          </a:prstGeom>
          <a:solidFill>
            <a:srgbClr val="7C6FF0"/>
          </a:solidFill>
          <a:ln/>
        </p:spPr>
      </p:sp>
      <p:sp>
        <p:nvSpPr>
          <p:cNvPr id="22" name="Text 20"/>
          <p:cNvSpPr/>
          <p:nvPr/>
        </p:nvSpPr>
        <p:spPr>
          <a:xfrm>
            <a:off x="754380" y="35433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3520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&amp; Progress Tracking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04672" y="4114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checklists, batch actions, live progress bars.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97680" y="3337560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03420" y="3543300"/>
            <a:ext cx="502920" cy="502920"/>
          </a:xfrm>
          <a:prstGeom prst="ellipse">
            <a:avLst/>
          </a:prstGeom>
          <a:solidFill>
            <a:srgbClr val="2AD8B9"/>
          </a:solidFill>
          <a:ln/>
        </p:spPr>
      </p:sp>
      <p:sp>
        <p:nvSpPr>
          <p:cNvPr id="27" name="Text 25"/>
          <p:cNvSpPr/>
          <p:nvPr/>
        </p:nvSpPr>
        <p:spPr>
          <a:xfrm>
            <a:off x="4503420" y="35433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66360" y="3520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Study Planner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53712" y="4114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or balanced-load partitioning, with one-click Adjust Plan.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46720" y="3337560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52460" y="3543300"/>
            <a:ext cx="502920" cy="50292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32" name="Text 30"/>
          <p:cNvSpPr/>
          <p:nvPr/>
        </p:nvSpPr>
        <p:spPr>
          <a:xfrm>
            <a:off x="8252460" y="35433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915400" y="3520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UI Sync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302752" y="4114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planner &amp; charts update instantly — no page reloads.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4983480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4380" y="5189220"/>
            <a:ext cx="502920" cy="502920"/>
          </a:xfrm>
          <a:prstGeom prst="ellipse">
            <a:avLst/>
          </a:prstGeom>
          <a:solidFill>
            <a:srgbClr val="7C6FF0"/>
          </a:solidFill>
          <a:ln/>
        </p:spPr>
      </p:sp>
      <p:sp>
        <p:nvSpPr>
          <p:cNvPr id="37" name="Text 35"/>
          <p:cNvSpPr/>
          <p:nvPr/>
        </p:nvSpPr>
        <p:spPr>
          <a:xfrm>
            <a:off x="754380" y="51892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417320" y="5166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Goals To-Do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04672" y="57607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Micro-tasking list to add, edit, complete &amp; delete daily tasks.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297680" y="4983480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03420" y="5189220"/>
            <a:ext cx="502920" cy="502920"/>
          </a:xfrm>
          <a:prstGeom prst="ellipse">
            <a:avLst/>
          </a:prstGeom>
          <a:solidFill>
            <a:srgbClr val="2AD8B9"/>
          </a:solidFill>
          <a:ln/>
        </p:spPr>
      </p:sp>
      <p:sp>
        <p:nvSpPr>
          <p:cNvPr id="42" name="Text 40"/>
          <p:cNvSpPr/>
          <p:nvPr/>
        </p:nvSpPr>
        <p:spPr>
          <a:xfrm>
            <a:off x="4503420" y="51892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166360" y="5166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Prediction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4553712" y="57607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trends plus a velocity-based completion estimate.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046720" y="4983480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52460" y="5189220"/>
            <a:ext cx="502920" cy="50292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47" name="Text 45"/>
          <p:cNvSpPr/>
          <p:nvPr/>
        </p:nvSpPr>
        <p:spPr>
          <a:xfrm>
            <a:off x="8252460" y="51892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915400" y="5166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Player + Bookmarks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8302752" y="57607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YouTube player with one-click timestamp pinning.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Data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24328" cy="868680"/>
          </a:xfrm>
          <a:prstGeom prst="roundRect">
            <a:avLst>
              <a:gd name="adj" fmla="val 7368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54864" cy="868680"/>
          </a:xfrm>
          <a:prstGeom prst="rect">
            <a:avLst/>
          </a:prstGeom>
          <a:solidFill>
            <a:srgbClr val="7C6FF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27048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801368"/>
            <a:ext cx="2258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82696" y="1417320"/>
            <a:ext cx="2624328" cy="868680"/>
          </a:xfrm>
          <a:prstGeom prst="roundRect">
            <a:avLst>
              <a:gd name="adj" fmla="val 7368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82696" y="1417320"/>
            <a:ext cx="54864" cy="868680"/>
          </a:xfrm>
          <a:prstGeom prst="rect">
            <a:avLst/>
          </a:prstGeom>
          <a:solidFill>
            <a:srgbClr val="2AD8B9"/>
          </a:solidFill>
          <a:ln/>
        </p:spPr>
      </p:sp>
      <p:sp>
        <p:nvSpPr>
          <p:cNvPr id="10" name="Text 8"/>
          <p:cNvSpPr/>
          <p:nvPr/>
        </p:nvSpPr>
        <p:spPr>
          <a:xfrm>
            <a:off x="3511296" y="1527048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11296" y="1801368"/>
            <a:ext cx="2258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016752" y="1417320"/>
            <a:ext cx="2624328" cy="868680"/>
          </a:xfrm>
          <a:prstGeom prst="roundRect">
            <a:avLst>
              <a:gd name="adj" fmla="val 7368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16752" y="1417320"/>
            <a:ext cx="54864" cy="868680"/>
          </a:xfrm>
          <a:prstGeom prst="rect">
            <a:avLst/>
          </a:prstGeom>
          <a:solidFill>
            <a:srgbClr val="F2B84B"/>
          </a:solidFill>
          <a:ln/>
        </p:spPr>
      </p:sp>
      <p:sp>
        <p:nvSpPr>
          <p:cNvPr id="14" name="Text 12"/>
          <p:cNvSpPr/>
          <p:nvPr/>
        </p:nvSpPr>
        <p:spPr>
          <a:xfrm>
            <a:off x="6245352" y="1527048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245352" y="1801368"/>
            <a:ext cx="2258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+ SQLAlchemy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750808" y="1417320"/>
            <a:ext cx="2624328" cy="868680"/>
          </a:xfrm>
          <a:prstGeom prst="roundRect">
            <a:avLst>
              <a:gd name="adj" fmla="val 7368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50808" y="1417320"/>
            <a:ext cx="54864" cy="868680"/>
          </a:xfrm>
          <a:prstGeom prst="rect">
            <a:avLst/>
          </a:prstGeom>
          <a:solidFill>
            <a:srgbClr val="7C6FF0"/>
          </a:solidFill>
          <a:ln/>
        </p:spPr>
      </p:sp>
      <p:sp>
        <p:nvSpPr>
          <p:cNvPr id="18" name="Text 16"/>
          <p:cNvSpPr/>
          <p:nvPr/>
        </p:nvSpPr>
        <p:spPr>
          <a:xfrm>
            <a:off x="8979408" y="1527048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979408" y="1801368"/>
            <a:ext cx="2258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Data API v3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2606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— IMPORT &amp; PROGRESS UPDATE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8008" y="301752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1B2440"/>
          </a:solidFill>
          <a:ln w="15875">
            <a:solidFill>
              <a:srgbClr val="7C6F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9448" y="31272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C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09448" y="34290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Pastes YouTube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URL(s) in React UI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209648" y="3017520"/>
            <a:ext cx="201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410816" y="301752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1B2440"/>
          </a:solidFill>
          <a:ln w="15875">
            <a:solidFill>
              <a:srgbClr val="2AD8B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02256" y="31272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502256" y="34290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/api/playlist/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request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102456" y="3017520"/>
            <a:ext cx="201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03624" y="301752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1B2440"/>
          </a:solidFill>
          <a:ln w="15875">
            <a:solidFill>
              <a:srgbClr val="7C6F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95064" y="31272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C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395064" y="34290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&amp; calls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PlaylistService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995264" y="3017520"/>
            <a:ext cx="201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96432" y="301752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1B2440"/>
          </a:solidFill>
          <a:ln w="15875">
            <a:solidFill>
              <a:srgbClr val="2AD8B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87872" y="31272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API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287872" y="34290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video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 &amp; durations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888072" y="3017520"/>
            <a:ext cx="201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089240" y="301752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1B2440"/>
          </a:solidFill>
          <a:ln w="15875">
            <a:solidFill>
              <a:srgbClr val="7C6F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80680" y="31272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C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180680" y="34290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lectures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(duplicate-safe)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780880" y="3017520"/>
            <a:ext cx="201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982048" y="301752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1B2440"/>
          </a:solidFill>
          <a:ln w="15875">
            <a:solidFill>
              <a:srgbClr val="2AD8B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073488" y="31272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0073488" y="34290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Re-renders with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progress %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4864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FLOW — MARKING A LECTURE COMPLETE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87172" y="4846320"/>
            <a:ext cx="2075688" cy="777240"/>
          </a:xfrm>
          <a:prstGeom prst="roundRect">
            <a:avLst>
              <a:gd name="adj" fmla="val 41176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6900" y="4846320"/>
            <a:ext cx="1856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 Toggled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762860" y="4846320"/>
            <a:ext cx="109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2872588" y="4846320"/>
            <a:ext cx="2075688" cy="777240"/>
          </a:xfrm>
          <a:prstGeom prst="roundRect">
            <a:avLst>
              <a:gd name="adj" fmla="val 41176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82316" y="4846320"/>
            <a:ext cx="1856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/api/progress/{id}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948276" y="4846320"/>
            <a:ext cx="109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058004" y="4846320"/>
            <a:ext cx="2075688" cy="777240"/>
          </a:xfrm>
          <a:prstGeom prst="roundRect">
            <a:avLst>
              <a:gd name="adj" fmla="val 41176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67732" y="4846320"/>
            <a:ext cx="1856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ProgressService validates (no duplicate)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133692" y="4846320"/>
            <a:ext cx="109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7243420" y="4846320"/>
            <a:ext cx="2075688" cy="777240"/>
          </a:xfrm>
          <a:prstGeom prst="roundRect">
            <a:avLst>
              <a:gd name="adj" fmla="val 41176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53148" y="4846320"/>
            <a:ext cx="1856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Recalculates % → returns new state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9319108" y="4846320"/>
            <a:ext cx="109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9428836" y="4846320"/>
            <a:ext cx="2075688" cy="777240"/>
          </a:xfrm>
          <a:prstGeom prst="roundRect">
            <a:avLst>
              <a:gd name="adj" fmla="val 41176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538564" y="4846320"/>
            <a:ext cx="1856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updates instantly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548640" y="5806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Data API quota: 10,000 units/day  ·  playlistItems fetched in pages of 50 via nextPageToken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Schema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331720" cy="1965960"/>
          </a:xfrm>
          <a:prstGeom prst="roundRect">
            <a:avLst>
              <a:gd name="adj" fmla="val 2791"/>
            </a:avLst>
          </a:prstGeom>
          <a:solidFill>
            <a:srgbClr val="141B33"/>
          </a:solidFill>
          <a:ln w="17780">
            <a:solidFill>
              <a:srgbClr val="7C6F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7C6FF0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600200"/>
            <a:ext cx="2331720" cy="201168"/>
          </a:xfrm>
          <a:prstGeom prst="rect">
            <a:avLst/>
          </a:prstGeom>
          <a:solidFill>
            <a:srgbClr val="7C6FF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67512" y="1920240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  </a:t>
            </a: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7512" y="2171700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 </a:t>
            </a: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7512" y="2423160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(FK)  </a:t>
            </a: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7512" y="2674620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  </a:t>
            </a: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417320"/>
            <a:ext cx="2331720" cy="1965960"/>
          </a:xfrm>
          <a:prstGeom prst="roundRect">
            <a:avLst>
              <a:gd name="adj" fmla="val 2791"/>
            </a:avLst>
          </a:prstGeom>
          <a:solidFill>
            <a:srgbClr val="141B33"/>
          </a:solidFill>
          <a:ln w="17780">
            <a:solidFill>
              <a:srgbClr val="2AD8B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41732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2AD8B9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1600200"/>
            <a:ext cx="2331720" cy="201168"/>
          </a:xfrm>
          <a:prstGeom prst="rect">
            <a:avLst/>
          </a:prstGeom>
          <a:solidFill>
            <a:srgbClr val="2AD8B9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14173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364992" y="1920240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  </a:t>
            </a: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64992" y="2171700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subject_id (FK)  </a:t>
            </a: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64992" y="2423160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yt_playlist_id  </a:t>
            </a: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64992" y="2674620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 </a:t>
            </a: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97880" y="1417320"/>
            <a:ext cx="2331720" cy="2194560"/>
          </a:xfrm>
          <a:prstGeom prst="roundRect">
            <a:avLst>
              <a:gd name="adj" fmla="val 2500"/>
            </a:avLst>
          </a:prstGeom>
          <a:solidFill>
            <a:srgbClr val="141B33"/>
          </a:solidFill>
          <a:ln w="17780">
            <a:solidFill>
              <a:srgbClr val="F2B84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97880" y="141732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F2B84B"/>
          </a:solidFill>
          <a:ln/>
        </p:spPr>
      </p:sp>
      <p:sp>
        <p:nvSpPr>
          <p:cNvPr id="22" name="Shape 20"/>
          <p:cNvSpPr/>
          <p:nvPr/>
        </p:nvSpPr>
        <p:spPr>
          <a:xfrm>
            <a:off x="5897880" y="1600200"/>
            <a:ext cx="2331720" cy="201168"/>
          </a:xfrm>
          <a:prstGeom prst="rect">
            <a:avLst/>
          </a:prstGeom>
          <a:solidFill>
            <a:srgbClr val="F2B84B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14173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062472" y="1920240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  </a:t>
            </a: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62472" y="2171700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playlist_id (FK)  </a:t>
            </a: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62472" y="2423160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video_id  </a:t>
            </a: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62472" y="2674620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 </a:t>
            </a: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62472" y="2926080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 </a:t>
            </a: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595360" y="1417320"/>
            <a:ext cx="3063240" cy="2194560"/>
          </a:xfrm>
          <a:prstGeom prst="roundRect">
            <a:avLst>
              <a:gd name="adj" fmla="val 2500"/>
            </a:avLst>
          </a:prstGeom>
          <a:solidFill>
            <a:srgbClr val="141B33"/>
          </a:solidFill>
          <a:ln w="17780">
            <a:solidFill>
              <a:srgbClr val="7C6F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95360" y="1417320"/>
            <a:ext cx="3063240" cy="384048"/>
          </a:xfrm>
          <a:prstGeom prst="roundRect">
            <a:avLst>
              <a:gd name="adj" fmla="val 14286"/>
            </a:avLst>
          </a:prstGeom>
          <a:solidFill>
            <a:srgbClr val="7C6FF0"/>
          </a:solidFill>
          <a:ln/>
        </p:spPr>
      </p:sp>
      <p:sp>
        <p:nvSpPr>
          <p:cNvPr id="31" name="Shape 29"/>
          <p:cNvSpPr/>
          <p:nvPr/>
        </p:nvSpPr>
        <p:spPr>
          <a:xfrm>
            <a:off x="8595360" y="1600200"/>
            <a:ext cx="3063240" cy="201168"/>
          </a:xfrm>
          <a:prstGeom prst="rect">
            <a:avLst/>
          </a:prstGeom>
          <a:solidFill>
            <a:srgbClr val="7C6FF0"/>
          </a:solidFill>
          <a:ln/>
        </p:spPr>
      </p:sp>
      <p:sp>
        <p:nvSpPr>
          <p:cNvPr id="32" name="Text 30"/>
          <p:cNvSpPr/>
          <p:nvPr/>
        </p:nvSpPr>
        <p:spPr>
          <a:xfrm>
            <a:off x="8732520" y="141732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759952" y="1920240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  </a:t>
            </a: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759952" y="2171700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(FK)  </a:t>
            </a: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759952" y="2423160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lecture_id (FK)  </a:t>
            </a: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759952" y="2674620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completed_at  </a:t>
            </a: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595360" y="3931920"/>
            <a:ext cx="3063240" cy="1691640"/>
          </a:xfrm>
          <a:prstGeom prst="roundRect">
            <a:avLst>
              <a:gd name="adj" fmla="val 3243"/>
            </a:avLst>
          </a:prstGeom>
          <a:solidFill>
            <a:srgbClr val="141B33"/>
          </a:solidFill>
          <a:ln w="17780">
            <a:solidFill>
              <a:srgbClr val="2AD8B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95360" y="3931920"/>
            <a:ext cx="3063240" cy="384048"/>
          </a:xfrm>
          <a:prstGeom prst="roundRect">
            <a:avLst>
              <a:gd name="adj" fmla="val 14286"/>
            </a:avLst>
          </a:prstGeom>
          <a:solidFill>
            <a:srgbClr val="2AD8B9"/>
          </a:solidFill>
          <a:ln/>
        </p:spPr>
      </p:sp>
      <p:sp>
        <p:nvSpPr>
          <p:cNvPr id="39" name="Shape 37"/>
          <p:cNvSpPr/>
          <p:nvPr/>
        </p:nvSpPr>
        <p:spPr>
          <a:xfrm>
            <a:off x="8595360" y="4114800"/>
            <a:ext cx="3063240" cy="201168"/>
          </a:xfrm>
          <a:prstGeom prst="rect">
            <a:avLst/>
          </a:prstGeom>
          <a:solidFill>
            <a:srgbClr val="2AD8B9"/>
          </a:solidFill>
          <a:ln/>
        </p:spPr>
      </p:sp>
      <p:sp>
        <p:nvSpPr>
          <p:cNvPr id="40" name="Text 38"/>
          <p:cNvSpPr/>
          <p:nvPr/>
        </p:nvSpPr>
        <p:spPr>
          <a:xfrm>
            <a:off x="8732520" y="393192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bookmarks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8759952" y="4434840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  </a:t>
            </a: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759952" y="4686300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lecture_id (FK)  </a:t>
            </a: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759952" y="4937760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timestamp_sec  </a:t>
            </a: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759952" y="5189220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 </a:t>
            </a: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834640" y="2377440"/>
            <a:ext cx="365760" cy="9144"/>
          </a:xfrm>
          <a:prstGeom prst="line">
            <a:avLst/>
          </a:prstGeom>
          <a:noFill/>
          <a:ln w="19050">
            <a:solidFill>
              <a:srgbClr val="6B7690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5532120" y="2377440"/>
            <a:ext cx="365760" cy="9144"/>
          </a:xfrm>
          <a:prstGeom prst="line">
            <a:avLst/>
          </a:prstGeom>
          <a:noFill/>
          <a:ln w="19050">
            <a:solidFill>
              <a:srgbClr val="6B7690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8229600" y="2468880"/>
            <a:ext cx="365760" cy="9144"/>
          </a:xfrm>
          <a:prstGeom prst="line">
            <a:avLst/>
          </a:prstGeom>
          <a:noFill/>
          <a:ln w="19050">
            <a:solidFill>
              <a:srgbClr val="6B7690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10122408" y="3611880"/>
            <a:ext cx="9144" cy="320040"/>
          </a:xfrm>
          <a:prstGeom prst="line">
            <a:avLst/>
          </a:prstGeom>
          <a:noFill/>
          <a:ln w="19050">
            <a:solidFill>
              <a:srgbClr val="6B7690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 flipH="1">
            <a:off x="7315200" y="4754880"/>
            <a:ext cx="1280160" cy="9144"/>
          </a:xfrm>
          <a:prstGeom prst="line">
            <a:avLst/>
          </a:prstGeom>
          <a:noFill/>
          <a:ln w="19050">
            <a:solidFill>
              <a:srgbClr val="6B7690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 flipV="1">
            <a:off x="7315200" y="2377440"/>
            <a:ext cx="9144" cy="2377440"/>
          </a:xfrm>
          <a:prstGeom prst="line">
            <a:avLst/>
          </a:prstGeom>
          <a:noFill/>
          <a:ln w="19050">
            <a:solidFill>
              <a:srgbClr val="6B7690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502920" y="3931920"/>
            <a:ext cx="7863840" cy="1691640"/>
          </a:xfrm>
          <a:prstGeom prst="roundRect">
            <a:avLst>
              <a:gd name="adj" fmla="val 4324"/>
            </a:avLst>
          </a:prstGeom>
          <a:solidFill>
            <a:srgbClr val="1B2440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1520" y="4069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Integrity Constraints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777240" y="4517136"/>
            <a:ext cx="64008" cy="64008"/>
          </a:xfrm>
          <a:prstGeom prst="ellipse">
            <a:avLst/>
          </a:prstGeom>
          <a:solidFill>
            <a:srgbClr val="2AD8B9"/>
          </a:solidFill>
          <a:ln/>
        </p:spPr>
      </p:sp>
      <p:sp>
        <p:nvSpPr>
          <p:cNvPr id="54" name="Text 52"/>
          <p:cNvSpPr/>
          <p:nvPr/>
        </p:nvSpPr>
        <p:spPr>
          <a:xfrm>
            <a:off x="960120" y="44348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(playlist_id, video_id) on lectures — blocks a playlist import from inserting the same video twice.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777240" y="4901184"/>
            <a:ext cx="64008" cy="64008"/>
          </a:xfrm>
          <a:prstGeom prst="ellipse">
            <a:avLst/>
          </a:prstGeom>
          <a:solidFill>
            <a:srgbClr val="2AD8B9"/>
          </a:solidFill>
          <a:ln/>
        </p:spPr>
      </p:sp>
      <p:sp>
        <p:nvSpPr>
          <p:cNvPr id="56" name="Text 54"/>
          <p:cNvSpPr/>
          <p:nvPr/>
        </p:nvSpPr>
        <p:spPr>
          <a:xfrm>
            <a:off x="960120" y="481888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(user_id, lecture_id) on progress — the primary guard against duplicate completion records.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777240" y="5285232"/>
            <a:ext cx="64008" cy="64008"/>
          </a:xfrm>
          <a:prstGeom prst="ellipse">
            <a:avLst/>
          </a:prstGeom>
          <a:solidFill>
            <a:srgbClr val="2AD8B9"/>
          </a:solidFill>
          <a:ln/>
        </p:spPr>
      </p:sp>
      <p:sp>
        <p:nvSpPr>
          <p:cNvPr id="58" name="Text 56"/>
          <p:cNvSpPr/>
          <p:nvPr/>
        </p:nvSpPr>
        <p:spPr>
          <a:xfrm>
            <a:off x="960120" y="5202936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cascade subjects → playlists → lectures → progress, enforcing referential integrity at the storage layer.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5528" y="2514600"/>
            <a:ext cx="512064" cy="512064"/>
          </a:xfrm>
          <a:prstGeom prst="ellipse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3026664"/>
            <a:ext cx="914" cy="68580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3246120"/>
            <a:ext cx="640080" cy="914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795528" y="3712464"/>
            <a:ext cx="256032" cy="50292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3712464"/>
            <a:ext cx="256032" cy="50292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31720" y="1371600"/>
            <a:ext cx="9326880" cy="5029200"/>
          </a:xfrm>
          <a:prstGeom prst="roundRect">
            <a:avLst>
              <a:gd name="adj" fmla="val 1455"/>
            </a:avLst>
          </a:prstGeom>
          <a:ln w="19050">
            <a:solidFill>
              <a:srgbClr val="2A3352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2331720" y="123444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TRACKER SYSTEM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0" y="1783080"/>
            <a:ext cx="2606040" cy="777240"/>
          </a:xfrm>
          <a:prstGeom prst="ellipse">
            <a:avLst/>
          </a:prstGeom>
          <a:solidFill>
            <a:srgbClr val="141B33"/>
          </a:solidFill>
          <a:ln w="17780">
            <a:solidFill>
              <a:srgbClr val="7C6F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52928" y="1783080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/ Log 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71600" y="3291840"/>
            <a:ext cx="1371600" cy="0"/>
          </a:xfrm>
          <a:prstGeom prst="line">
            <a:avLst/>
          </a:prstGeom>
          <a:noFill/>
          <a:ln w="12700">
            <a:solidFill>
              <a:srgbClr val="6B76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0" y="1783080"/>
            <a:ext cx="2606040" cy="777240"/>
          </a:xfrm>
          <a:prstGeom prst="ellipse">
            <a:avLst/>
          </a:prstGeom>
          <a:solidFill>
            <a:srgbClr val="141B33"/>
          </a:solidFill>
          <a:ln w="17780">
            <a:solidFill>
              <a:srgbClr val="2AD8B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79008" y="1783080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Subjects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95360" y="1783080"/>
            <a:ext cx="2606040" cy="777240"/>
          </a:xfrm>
          <a:prstGeom prst="ellipse">
            <a:avLst/>
          </a:prstGeom>
          <a:solidFill>
            <a:srgbClr val="141B33"/>
          </a:solidFill>
          <a:ln w="17780">
            <a:solidFill>
              <a:srgbClr val="F2B8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05088" y="1783080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YouTube Playlist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0" y="2880360"/>
            <a:ext cx="2606040" cy="777240"/>
          </a:xfrm>
          <a:prstGeom prst="ellipse">
            <a:avLst/>
          </a:prstGeom>
          <a:solidFill>
            <a:srgbClr val="141B33"/>
          </a:solidFill>
          <a:ln w="17780">
            <a:solidFill>
              <a:srgbClr val="2AD8B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52928" y="2880360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Lecture Progress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371600" y="3291840"/>
            <a:ext cx="1371600" cy="0"/>
          </a:xfrm>
          <a:prstGeom prst="line">
            <a:avLst/>
          </a:prstGeom>
          <a:noFill/>
          <a:ln w="12700">
            <a:solidFill>
              <a:srgbClr val="6B76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0" y="2880360"/>
            <a:ext cx="2606040" cy="777240"/>
          </a:xfrm>
          <a:prstGeom prst="ellipse">
            <a:avLst/>
          </a:prstGeom>
          <a:solidFill>
            <a:srgbClr val="141B33"/>
          </a:solidFill>
          <a:ln w="17780">
            <a:solidFill>
              <a:srgbClr val="F2B8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79008" y="2880360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Study Plan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95360" y="2880360"/>
            <a:ext cx="2606040" cy="777240"/>
          </a:xfrm>
          <a:prstGeom prst="ellipse">
            <a:avLst/>
          </a:prstGeom>
          <a:solidFill>
            <a:srgbClr val="141B33"/>
          </a:solidFill>
          <a:ln w="17780">
            <a:solidFill>
              <a:srgbClr val="7C6F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05088" y="2880360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Schedule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0" y="3977640"/>
            <a:ext cx="2606040" cy="777240"/>
          </a:xfrm>
          <a:prstGeom prst="ellipse">
            <a:avLst/>
          </a:prstGeom>
          <a:solidFill>
            <a:srgbClr val="141B33"/>
          </a:solidFill>
          <a:ln w="17780">
            <a:solidFill>
              <a:srgbClr val="F2B8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52928" y="3977640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Analytics &amp; ETA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371600" y="3291840"/>
            <a:ext cx="1371600" cy="1074420"/>
          </a:xfrm>
          <a:prstGeom prst="line">
            <a:avLst/>
          </a:prstGeom>
          <a:noFill/>
          <a:ln w="12700">
            <a:solidFill>
              <a:srgbClr val="6B76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0" y="3977640"/>
            <a:ext cx="2606040" cy="777240"/>
          </a:xfrm>
          <a:prstGeom prst="ellipse">
            <a:avLst/>
          </a:prstGeom>
          <a:solidFill>
            <a:srgbClr val="141B33"/>
          </a:solidFill>
          <a:ln w="17780">
            <a:solidFill>
              <a:srgbClr val="7C6F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79008" y="3977640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Daily Goals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595360" y="3977640"/>
            <a:ext cx="2606040" cy="777240"/>
          </a:xfrm>
          <a:prstGeom prst="ellipse">
            <a:avLst/>
          </a:prstGeom>
          <a:solidFill>
            <a:srgbClr val="141B33"/>
          </a:solidFill>
          <a:ln w="17780">
            <a:solidFill>
              <a:srgbClr val="2AD8B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05088" y="3977640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 Lecture Moments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Student Sees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4937760"/>
          </a:xfrm>
          <a:prstGeom prst="roundRect">
            <a:avLst>
              <a:gd name="adj" fmla="val 1481"/>
            </a:avLst>
          </a:prstGeom>
          <a:solidFill>
            <a:srgbClr val="10182E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1B244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45920"/>
            <a:ext cx="5349240" cy="228600"/>
          </a:xfrm>
          <a:prstGeom prst="rect">
            <a:avLst/>
          </a:prstGeom>
          <a:solidFill>
            <a:srgbClr val="1B244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36192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7C6FF0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4904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StudyTrack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0391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80560" y="2039112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7C6FF0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203911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New Subject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22960" y="2514600"/>
            <a:ext cx="1600200" cy="777240"/>
          </a:xfrm>
          <a:prstGeom prst="roundRect">
            <a:avLst>
              <a:gd name="adj" fmla="val 5882"/>
            </a:avLst>
          </a:prstGeom>
          <a:solidFill>
            <a:srgbClr val="141B33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606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SUBJECTS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960120" y="2834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6F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560320" y="2514600"/>
            <a:ext cx="1600200" cy="777240"/>
          </a:xfrm>
          <a:prstGeom prst="roundRect">
            <a:avLst>
              <a:gd name="adj" fmla="val 5882"/>
            </a:avLst>
          </a:prstGeom>
          <a:solidFill>
            <a:srgbClr val="141B33"/>
          </a:solidFill>
          <a:ln/>
        </p:spPr>
      </p:sp>
      <p:sp>
        <p:nvSpPr>
          <p:cNvPr id="16" name="Text 14"/>
          <p:cNvSpPr/>
          <p:nvPr/>
        </p:nvSpPr>
        <p:spPr>
          <a:xfrm>
            <a:off x="2697480" y="2606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LECTURES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697480" y="2834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6F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297680" y="2514600"/>
            <a:ext cx="1600200" cy="777240"/>
          </a:xfrm>
          <a:prstGeom prst="roundRect">
            <a:avLst>
              <a:gd name="adj" fmla="val 5882"/>
            </a:avLst>
          </a:prstGeom>
          <a:solidFill>
            <a:srgbClr val="141B33"/>
          </a:solidFill>
          <a:ln/>
        </p:spPr>
      </p:sp>
      <p:sp>
        <p:nvSpPr>
          <p:cNvPr id="19" name="Text 17"/>
          <p:cNvSpPr/>
          <p:nvPr/>
        </p:nvSpPr>
        <p:spPr>
          <a:xfrm>
            <a:off x="4434840" y="2606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434840" y="2834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AD8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22960" y="3520440"/>
            <a:ext cx="2468880" cy="1371600"/>
          </a:xfrm>
          <a:prstGeom prst="roundRect">
            <a:avLst>
              <a:gd name="adj" fmla="val 3333"/>
            </a:avLst>
          </a:prstGeom>
          <a:solidFill>
            <a:srgbClr val="141B33"/>
          </a:solidFill>
          <a:ln w="12700">
            <a:solidFill>
              <a:srgbClr val="7C6F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87552" y="4160520"/>
            <a:ext cx="2139696" cy="91440"/>
          </a:xfrm>
          <a:prstGeom prst="roundRect">
            <a:avLst>
              <a:gd name="adj" fmla="val 50000"/>
            </a:avLst>
          </a:prstGeom>
          <a:solidFill>
            <a:srgbClr val="2A3352"/>
          </a:solidFill>
          <a:ln/>
        </p:spPr>
      </p:sp>
      <p:sp>
        <p:nvSpPr>
          <p:cNvPr id="24" name="Shape 22"/>
          <p:cNvSpPr/>
          <p:nvPr/>
        </p:nvSpPr>
        <p:spPr>
          <a:xfrm>
            <a:off x="987552" y="4160520"/>
            <a:ext cx="252704" cy="91440"/>
          </a:xfrm>
          <a:prstGeom prst="roundRect">
            <a:avLst>
              <a:gd name="adj" fmla="val 50000"/>
            </a:avLst>
          </a:prstGeom>
          <a:solidFill>
            <a:srgbClr val="7C6FF0"/>
          </a:solidFill>
          <a:ln/>
        </p:spPr>
      </p:sp>
      <p:sp>
        <p:nvSpPr>
          <p:cNvPr id="25" name="Text 23"/>
          <p:cNvSpPr/>
          <p:nvPr/>
        </p:nvSpPr>
        <p:spPr>
          <a:xfrm>
            <a:off x="987552" y="434340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150 lectures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29000" y="3520440"/>
            <a:ext cx="2468880" cy="1371600"/>
          </a:xfrm>
          <a:prstGeom prst="roundRect">
            <a:avLst>
              <a:gd name="adj" fmla="val 3333"/>
            </a:avLst>
          </a:prstGeom>
          <a:solidFill>
            <a:srgbClr val="141B33"/>
          </a:solidFill>
          <a:ln w="12700">
            <a:solidFill>
              <a:srgbClr val="2AD8B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93592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593592" y="4160520"/>
            <a:ext cx="2139696" cy="91440"/>
          </a:xfrm>
          <a:prstGeom prst="roundRect">
            <a:avLst>
              <a:gd name="adj" fmla="val 50000"/>
            </a:avLst>
          </a:prstGeom>
          <a:solidFill>
            <a:srgbClr val="2A3352"/>
          </a:solidFill>
          <a:ln/>
        </p:spPr>
      </p:sp>
      <p:sp>
        <p:nvSpPr>
          <p:cNvPr id="29" name="Shape 27"/>
          <p:cNvSpPr/>
          <p:nvPr/>
        </p:nvSpPr>
        <p:spPr>
          <a:xfrm>
            <a:off x="3593592" y="4160520"/>
            <a:ext cx="252704" cy="91440"/>
          </a:xfrm>
          <a:prstGeom prst="roundRect">
            <a:avLst>
              <a:gd name="adj" fmla="val 50000"/>
            </a:avLst>
          </a:prstGeom>
          <a:solidFill>
            <a:srgbClr val="2AD8B9"/>
          </a:solidFill>
          <a:ln/>
        </p:spPr>
      </p:sp>
      <p:sp>
        <p:nvSpPr>
          <p:cNvPr id="30" name="Text 28"/>
          <p:cNvSpPr/>
          <p:nvPr/>
        </p:nvSpPr>
        <p:spPr>
          <a:xfrm>
            <a:off x="3593592" y="434340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173 lectures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Study Plan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22960" y="5394960"/>
            <a:ext cx="4800600" cy="310896"/>
          </a:xfrm>
          <a:prstGeom prst="roundRect">
            <a:avLst>
              <a:gd name="adj" fmla="val 11765"/>
            </a:avLst>
          </a:prstGeom>
          <a:solidFill>
            <a:srgbClr val="141B33"/>
          </a:solidFill>
          <a:ln/>
        </p:spPr>
      </p:sp>
      <p:sp>
        <p:nvSpPr>
          <p:cNvPr id="33" name="Shape 31"/>
          <p:cNvSpPr/>
          <p:nvPr/>
        </p:nvSpPr>
        <p:spPr>
          <a:xfrm>
            <a:off x="932688" y="5477256"/>
            <a:ext cx="146304" cy="146304"/>
          </a:xfrm>
          <a:prstGeom prst="roundRect">
            <a:avLst>
              <a:gd name="adj" fmla="val 18750"/>
            </a:avLst>
          </a:prstGeom>
          <a:ln w="17780">
            <a:solidFill>
              <a:srgbClr val="2AD8B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70432" y="5394960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 Language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22960" y="5779008"/>
            <a:ext cx="4800600" cy="310896"/>
          </a:xfrm>
          <a:prstGeom prst="roundRect">
            <a:avLst>
              <a:gd name="adj" fmla="val 11765"/>
            </a:avLst>
          </a:prstGeom>
          <a:solidFill>
            <a:srgbClr val="141B33"/>
          </a:solidFill>
          <a:ln/>
        </p:spPr>
      </p:sp>
      <p:sp>
        <p:nvSpPr>
          <p:cNvPr id="36" name="Shape 34"/>
          <p:cNvSpPr/>
          <p:nvPr/>
        </p:nvSpPr>
        <p:spPr>
          <a:xfrm>
            <a:off x="932688" y="5861304"/>
            <a:ext cx="146304" cy="146304"/>
          </a:xfrm>
          <a:prstGeom prst="roundRect">
            <a:avLst>
              <a:gd name="adj" fmla="val 18750"/>
            </a:avLst>
          </a:prstGeom>
          <a:ln w="17780">
            <a:solidFill>
              <a:srgbClr val="2AD8B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70432" y="5779008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vs High Level Languages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22960" y="6163056"/>
            <a:ext cx="4800600" cy="310896"/>
          </a:xfrm>
          <a:prstGeom prst="roundRect">
            <a:avLst>
              <a:gd name="adj" fmla="val 11765"/>
            </a:avLst>
          </a:prstGeom>
          <a:solidFill>
            <a:srgbClr val="141B33"/>
          </a:solidFill>
          <a:ln/>
        </p:spPr>
      </p:sp>
      <p:sp>
        <p:nvSpPr>
          <p:cNvPr id="39" name="Shape 37"/>
          <p:cNvSpPr/>
          <p:nvPr/>
        </p:nvSpPr>
        <p:spPr>
          <a:xfrm>
            <a:off x="932688" y="6245352"/>
            <a:ext cx="146304" cy="146304"/>
          </a:xfrm>
          <a:prstGeom prst="roundRect">
            <a:avLst>
              <a:gd name="adj" fmla="val 18750"/>
            </a:avLst>
          </a:prstGeom>
          <a:ln w="17780">
            <a:solidFill>
              <a:srgbClr val="2AD8B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70432" y="6163056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Translators &amp; Compilers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48640" y="642823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subject-wise progress at a glance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263640" y="141732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10182E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63640" y="1417320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1B2440"/>
          </a:solidFill>
          <a:ln/>
        </p:spPr>
      </p:sp>
      <p:sp>
        <p:nvSpPr>
          <p:cNvPr id="44" name="Shape 42"/>
          <p:cNvSpPr/>
          <p:nvPr/>
        </p:nvSpPr>
        <p:spPr>
          <a:xfrm>
            <a:off x="6263640" y="1645920"/>
            <a:ext cx="5394960" cy="228600"/>
          </a:xfrm>
          <a:prstGeom prst="rect">
            <a:avLst/>
          </a:prstGeom>
          <a:solidFill>
            <a:srgbClr val="1B2440"/>
          </a:solidFill>
          <a:ln/>
        </p:spPr>
      </p:sp>
      <p:sp>
        <p:nvSpPr>
          <p:cNvPr id="45" name="Text 43"/>
          <p:cNvSpPr/>
          <p:nvPr/>
        </p:nvSpPr>
        <p:spPr>
          <a:xfrm>
            <a:off x="6492240" y="14904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— Study Plan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0424160" y="15087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3A2233"/>
          </a:solidFill>
          <a:ln/>
        </p:spPr>
      </p:sp>
      <p:sp>
        <p:nvSpPr>
          <p:cNvPr id="47" name="Text 45"/>
          <p:cNvSpPr/>
          <p:nvPr/>
        </p:nvSpPr>
        <p:spPr>
          <a:xfrm>
            <a:off x="10424160" y="1508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Plan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492240" y="2039112"/>
            <a:ext cx="4937760" cy="658368"/>
          </a:xfrm>
          <a:prstGeom prst="roundRect">
            <a:avLst>
              <a:gd name="adj" fmla="val 8333"/>
            </a:avLst>
          </a:prstGeom>
          <a:solidFill>
            <a:srgbClr val="251A2A"/>
          </a:solidFill>
          <a:ln w="12700">
            <a:solidFill>
              <a:srgbClr val="F0708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75120" y="2039112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0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You are behind schedule
</a:t>
            </a:r>
            <a:r>
              <a:rPr lang="en-US" sz="9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Deviation: 77 minutes  ·  Estimated completion: May 24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492240" y="2862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Plan Breakdown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492240" y="3200400"/>
            <a:ext cx="4937760" cy="1261872"/>
          </a:xfrm>
          <a:prstGeom prst="roundRect">
            <a:avLst>
              <a:gd name="adj" fmla="val 3623"/>
            </a:avLst>
          </a:prstGeom>
          <a:solidFill>
            <a:srgbClr val="141B33"/>
          </a:solidFill>
          <a:ln/>
        </p:spPr>
      </p:sp>
      <p:sp>
        <p:nvSpPr>
          <p:cNvPr id="52" name="Text 50"/>
          <p:cNvSpPr/>
          <p:nvPr/>
        </p:nvSpPr>
        <p:spPr>
          <a:xfrm>
            <a:off x="6647688" y="32735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0561320" y="32735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 17m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766560" y="35295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Introduction to C Language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766560" y="38039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Low vs High Level Languages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766560" y="407822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Language Translators | Compiler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492240" y="4590288"/>
            <a:ext cx="4937760" cy="1261872"/>
          </a:xfrm>
          <a:prstGeom prst="roundRect">
            <a:avLst>
              <a:gd name="adj" fmla="val 3623"/>
            </a:avLst>
          </a:prstGeom>
          <a:solidFill>
            <a:srgbClr val="141B33"/>
          </a:solidFill>
          <a:ln/>
        </p:spPr>
      </p:sp>
      <p:sp>
        <p:nvSpPr>
          <p:cNvPr id="58" name="Text 56"/>
          <p:cNvSpPr/>
          <p:nvPr/>
        </p:nvSpPr>
        <p:spPr>
          <a:xfrm>
            <a:off x="6647688" y="46634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10561320" y="46634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A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 25m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766560" y="49194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Constants in C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766560" y="51937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Variables in C Programming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766560" y="546811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Keywords and Identifiers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263640" y="64282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Planner — deviation tracking &amp; per-day breakdown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0789920" cy="731520"/>
          </a:xfrm>
          <a:prstGeom prst="roundRect">
            <a:avLst>
              <a:gd name="adj" fmla="val 10000"/>
            </a:avLst>
          </a:prstGeom>
          <a:solidFill>
            <a:srgbClr val="2A2411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71600"/>
            <a:ext cx="457200" cy="457200"/>
          </a:xfrm>
          <a:prstGeom prst="ellipse">
            <a:avLst/>
          </a:prstGeom>
          <a:solidFill>
            <a:srgbClr val="3A321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12344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Assistant  </a:t>
            </a:r>
            <a:r>
              <a:rPr lang="en-US" sz="11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planned next, powered by Gemini/LLM integration: instant AI-generated notes &amp; summaries, and an interactive AI Subject Chat for concept clarification.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3538728" cy="1417320"/>
          </a:xfrm>
          <a:prstGeom prst="roundRect">
            <a:avLst>
              <a:gd name="adj" fmla="val 5161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2359152"/>
            <a:ext cx="457200" cy="45720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313432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Quizzes &amp; Flashcards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786384" y="2880360"/>
            <a:ext cx="3081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MCQs &amp; flashcards from lectures; add Spaced Repetition (SRS) reviews.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4215384" y="2148840"/>
            <a:ext cx="3538728" cy="1417320"/>
          </a:xfrm>
          <a:prstGeom prst="roundRect">
            <a:avLst>
              <a:gd name="adj" fmla="val 5161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25696" y="2359152"/>
            <a:ext cx="457200" cy="45720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5" name="Text 13"/>
          <p:cNvSpPr/>
          <p:nvPr/>
        </p:nvSpPr>
        <p:spPr>
          <a:xfrm>
            <a:off x="4425696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38344" y="2313432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Focus / Pomodoro Timer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4453128" y="2880360"/>
            <a:ext cx="3081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actual study hours vs. estimates for deeper productivity insights.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7882128" y="2148840"/>
            <a:ext cx="3538728" cy="1417320"/>
          </a:xfrm>
          <a:prstGeom prst="roundRect">
            <a:avLst>
              <a:gd name="adj" fmla="val 5161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2359152"/>
            <a:ext cx="457200" cy="45720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20" name="Text 18"/>
          <p:cNvSpPr/>
          <p:nvPr/>
        </p:nvSpPr>
        <p:spPr>
          <a:xfrm>
            <a:off x="809244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☲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705088" y="2313432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Integrations</a:t>
            </a:r>
            <a:endParaRPr lang="en-US" sz="1180" dirty="0"/>
          </a:p>
        </p:txBody>
      </p:sp>
      <p:sp>
        <p:nvSpPr>
          <p:cNvPr id="22" name="Text 20"/>
          <p:cNvSpPr/>
          <p:nvPr/>
        </p:nvSpPr>
        <p:spPr>
          <a:xfrm>
            <a:off x="8119872" y="2880360"/>
            <a:ext cx="3081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from Coursera, Udemy, PDFs &amp; slide decks with OCR summarisation.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548640" y="3712464"/>
            <a:ext cx="3538728" cy="1417320"/>
          </a:xfrm>
          <a:prstGeom prst="roundRect">
            <a:avLst>
              <a:gd name="adj" fmla="val 5161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952" y="3922776"/>
            <a:ext cx="457200" cy="45720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71600" y="3877056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1180" dirty="0"/>
          </a:p>
        </p:txBody>
      </p:sp>
      <p:sp>
        <p:nvSpPr>
          <p:cNvPr id="27" name="Text 25"/>
          <p:cNvSpPr/>
          <p:nvPr/>
        </p:nvSpPr>
        <p:spPr>
          <a:xfrm>
            <a:off x="786384" y="4443984"/>
            <a:ext cx="3081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Streaks, XP, badges &amp; levels; shareable public plans and Study Rooms.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4215384" y="3712464"/>
            <a:ext cx="3538728" cy="1417320"/>
          </a:xfrm>
          <a:prstGeom prst="roundRect">
            <a:avLst>
              <a:gd name="adj" fmla="val 5161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25696" y="3922776"/>
            <a:ext cx="457200" cy="45720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30" name="Text 28"/>
          <p:cNvSpPr/>
          <p:nvPr/>
        </p:nvSpPr>
        <p:spPr>
          <a:xfrm>
            <a:off x="4425696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038344" y="3877056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/ Mobile Support</a:t>
            </a:r>
            <a:endParaRPr lang="en-US" sz="1180" dirty="0"/>
          </a:p>
        </p:txBody>
      </p:sp>
      <p:sp>
        <p:nvSpPr>
          <p:cNvPr id="32" name="Text 30"/>
          <p:cNvSpPr/>
          <p:nvPr/>
        </p:nvSpPr>
        <p:spPr>
          <a:xfrm>
            <a:off x="4453128" y="4443984"/>
            <a:ext cx="3081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mobile-friendly app with local push notifications.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7882128" y="3712464"/>
            <a:ext cx="3538728" cy="1417320"/>
          </a:xfrm>
          <a:prstGeom prst="roundRect">
            <a:avLst>
              <a:gd name="adj" fmla="val 5161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92440" y="3922776"/>
            <a:ext cx="457200" cy="45720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35" name="Text 33"/>
          <p:cNvSpPr/>
          <p:nvPr/>
        </p:nvSpPr>
        <p:spPr>
          <a:xfrm>
            <a:off x="8092440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705088" y="3877056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Adaptive Scheduling</a:t>
            </a:r>
            <a:endParaRPr lang="en-US" sz="1180" dirty="0"/>
          </a:p>
        </p:txBody>
      </p:sp>
      <p:sp>
        <p:nvSpPr>
          <p:cNvPr id="37" name="Text 35"/>
          <p:cNvSpPr/>
          <p:nvPr/>
        </p:nvSpPr>
        <p:spPr>
          <a:xfrm>
            <a:off x="8119872" y="4443984"/>
            <a:ext cx="3081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Auto-prioritise weak subjects based on low completion velocity.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548640" y="5276088"/>
            <a:ext cx="3538728" cy="1417320"/>
          </a:xfrm>
          <a:prstGeom prst="roundRect">
            <a:avLst>
              <a:gd name="adj" fmla="val 5161"/>
            </a:avLst>
          </a:prstGeom>
          <a:solidFill>
            <a:srgbClr val="141B33"/>
          </a:solidFill>
          <a:ln w="12700">
            <a:solidFill>
              <a:srgbClr val="2A335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8952" y="5486400"/>
            <a:ext cx="457200" cy="45720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40" name="Text 38"/>
          <p:cNvSpPr/>
          <p:nvPr/>
        </p:nvSpPr>
        <p:spPr>
          <a:xfrm>
            <a:off x="758952" y="548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371600" y="5440680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 Sync</a:t>
            </a:r>
            <a:endParaRPr lang="en-US" sz="1180" dirty="0"/>
          </a:p>
        </p:txBody>
      </p:sp>
      <p:sp>
        <p:nvSpPr>
          <p:cNvPr id="42" name="Text 40"/>
          <p:cNvSpPr/>
          <p:nvPr/>
        </p:nvSpPr>
        <p:spPr>
          <a:xfrm>
            <a:off x="786384" y="6007608"/>
            <a:ext cx="3081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 generated study schedule directly onto the user's calendar.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1082009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1051</Words>
  <Application>Microsoft Office PowerPoint</Application>
  <PresentationFormat>Widescreen</PresentationFormat>
  <Paragraphs>229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Priyam Mondal</cp:lastModifiedBy>
  <cp:revision>2</cp:revision>
  <dcterms:created xsi:type="dcterms:W3CDTF">2026-07-16T20:09:04Z</dcterms:created>
  <dcterms:modified xsi:type="dcterms:W3CDTF">2026-07-16T20:13:18Z</dcterms:modified>
</cp:coreProperties>
</file>